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692000" cy="75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"/>
            <a:ext cx="10692000" cy="360000"/>
          </a:xfrm>
          <a:prstGeom prst="rect">
            <a:avLst/>
          </a:prstGeom>
          <a:solidFill>
            <a:srgbClr val="036D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7200" b="1" i="0" u="none">
                <a:solidFill>
                  <a:srgbClr val="4C4F69"/>
                </a:solidFill>
                <a:latin typeface="Georgia"/>
              </a:rPr>
              <a:t>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9612000" cy="72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3600" b="1" i="0" u="none">
                <a:solidFill>
                  <a:srgbClr val="036D97"/>
                </a:solidFill>
                <a:latin typeface="Aptos"/>
              </a:rPr>
              <a:t>pull it out of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9612000" cy="50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200" b="0" i="1" u="none">
                <a:solidFill>
                  <a:srgbClr val="6C6F85"/>
                </a:solidFill>
                <a:latin typeface="Aptos"/>
              </a:rPr>
              <a:t>don't re-read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9612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400" b="0" i="0" u="none">
                <a:solidFill>
                  <a:srgbClr val="888888"/>
                </a:solidFill>
                <a:latin typeface="Aptos"/>
              </a:rPr>
              <a:t>Put the cards that fit here. Some fit two: argue about 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"/>
            <a:ext cx="10692000" cy="360000"/>
          </a:xfrm>
          <a:prstGeom prst="rect">
            <a:avLst/>
          </a:prstGeom>
          <a:solidFill>
            <a:srgbClr val="314F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7200" b="1" i="0" u="none">
                <a:solidFill>
                  <a:srgbClr val="4C4F69"/>
                </a:solidFill>
                <a:latin typeface="Georgia"/>
              </a:rPr>
              <a:t>Spacing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9612000" cy="72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3600" b="1" i="0" u="none">
                <a:solidFill>
                  <a:srgbClr val="314FFC"/>
                </a:solidFill>
                <a:latin typeface="Aptos"/>
              </a:rPr>
              <a:t>come back to it later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9612000" cy="50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200" b="0" i="1" u="none">
                <a:solidFill>
                  <a:srgbClr val="6C6F85"/>
                </a:solidFill>
                <a:latin typeface="Aptos"/>
              </a:rPr>
              <a:t>a gap, then again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9612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400" b="0" i="0" u="none">
                <a:solidFill>
                  <a:srgbClr val="888888"/>
                </a:solidFill>
                <a:latin typeface="Aptos"/>
              </a:rPr>
              <a:t>Put the cards that fit here. Some fit two: argue about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"/>
            <a:ext cx="10692000" cy="360000"/>
          </a:xfrm>
          <a:prstGeom prst="rect">
            <a:avLst/>
          </a:prstGeom>
          <a:solidFill>
            <a:srgbClr val="2E74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7200" b="1" i="0" u="none">
                <a:solidFill>
                  <a:srgbClr val="4C4F69"/>
                </a:solidFill>
                <a:latin typeface="Georgia"/>
              </a:rPr>
              <a:t>Interleaving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9612000" cy="72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3600" b="1" i="0" u="none">
                <a:solidFill>
                  <a:srgbClr val="2E741F"/>
                </a:solidFill>
                <a:latin typeface="Aptos"/>
              </a:rPr>
              <a:t>mix it 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9612000" cy="50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200" b="0" i="1" u="none">
                <a:solidFill>
                  <a:srgbClr val="6C6F85"/>
                </a:solidFill>
                <a:latin typeface="Aptos"/>
              </a:rPr>
              <a:t>not one type at a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9612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400" b="0" i="0" u="none">
                <a:solidFill>
                  <a:srgbClr val="888888"/>
                </a:solidFill>
                <a:latin typeface="Aptos"/>
              </a:rPr>
              <a:t>Put the cards that fit here. Some fit two: argue about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"/>
            <a:ext cx="10692000" cy="360000"/>
          </a:xfrm>
          <a:prstGeom prst="rect">
            <a:avLst/>
          </a:prstGeom>
          <a:solidFill>
            <a:srgbClr val="B241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7200" b="1" i="0" u="none">
                <a:solidFill>
                  <a:srgbClr val="4C4F69"/>
                </a:solidFill>
                <a:latin typeface="Georgia"/>
              </a:rPr>
              <a:t>Elaboration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9612000" cy="72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3600" b="1" i="0" u="none">
                <a:solidFill>
                  <a:srgbClr val="B24101"/>
                </a:solidFill>
                <a:latin typeface="Aptos"/>
              </a:rPr>
              <a:t>ask how and why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9612000" cy="50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200" b="0" i="1" u="none">
                <a:solidFill>
                  <a:srgbClr val="6C6F85"/>
                </a:solidFill>
                <a:latin typeface="Aptos"/>
              </a:rPr>
              <a:t>connect it to what you know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9612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400" b="0" i="0" u="none">
                <a:solidFill>
                  <a:srgbClr val="888888"/>
                </a:solidFill>
                <a:latin typeface="Aptos"/>
              </a:rPr>
              <a:t>Put the cards that fit here. Some fit two: argue about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mat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4000"/>
            <a:ext cx="10692000" cy="360000"/>
          </a:xfrm>
          <a:prstGeom prst="rect">
            <a:avLst/>
          </a:prstGeom>
          <a:solidFill>
            <a:srgbClr val="6C6F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0000" y="1800000"/>
            <a:ext cx="9612000" cy="144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7200" b="1" i="0" u="none">
                <a:solidFill>
                  <a:srgbClr val="4C4F69"/>
                </a:solidFill>
                <a:latin typeface="Georgia"/>
              </a:rPr>
              <a:t>None of the above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600000"/>
            <a:ext cx="9612000" cy="72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3600" b="1" i="0" u="none">
                <a:solidFill>
                  <a:srgbClr val="6C6F85"/>
                </a:solidFill>
                <a:latin typeface="Aptos"/>
              </a:rPr>
              <a:t>passive, however busy it looks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500000"/>
            <a:ext cx="9612000" cy="504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2200" b="0" i="1" u="none">
                <a:solidFill>
                  <a:srgbClr val="6C6F85"/>
                </a:solidFill>
                <a:latin typeface="Aptos"/>
              </a:rPr>
              <a:t>the bin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6300000"/>
            <a:ext cx="9612000" cy="432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ctr"/>
            <a:r>
              <a:rPr sz="1400" b="0" i="0" u="none">
                <a:solidFill>
                  <a:srgbClr val="888888"/>
                </a:solidFill>
                <a:latin typeface="Aptos"/>
              </a:rPr>
              <a:t>Put the cards that fit here. Some fit two: argue about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cards (cut out, shuffle)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The fire safety quiz returns on day 1, day 7 and day 30, like a sequel nobody asked for.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0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The student explains to a teddy bear why we check lying and standing blood pressure.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8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Before handover, the charge nurse fires three questions about yesterday's teaching. Notes stay in pockets.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Watch a 40-minute webinar at 1.5×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0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Six ECGs, but not all AF: AF, flutter, and one heart that's just showing off.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92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A sticky note on the drug fridge: “Max dose of paracetamol? Answer under the flap.”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00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“Where could this work in your teaching?” after each Menti question.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96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90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These sessions: one week apart.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8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92000" y="50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Highlight everything in yellow. Then highlight the highlights in pink.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00000" y="68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Spot the strategy · cards (cut out, shuffle)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The Kahoot you did at the start of today.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3</a:t>
            </a:r>
          </a:p>
        </p:txBody>
      </p:sp>
      <p:sp>
        <p:nvSpPr>
          <p:cNvPr id="6" name="Rectangle 5"/>
          <p:cNvSpPr/>
          <p:nvPr/>
        </p:nvSpPr>
        <p:spPr>
          <a:xfrm>
            <a:off x="3690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“But why?” asked five times in a row about hand hygiene, toddler-style.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8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092000" y="50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Drug calculations, shuffled: IV, oral and paediatric mixed together instead of one type at a time.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0000" y="234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8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One question a week on the ward WhatsApp about last month's sepsis teaching.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90000" y="2754000"/>
            <a:ext cx="3240000" cy="2088000"/>
          </a:xfrm>
          <a:prstGeom prst="rect">
            <a:avLst/>
          </a:prstGeom>
          <a:noFill/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 tIns="72000" bIns="72000"/>
          <a:lstStyle/>
          <a:p>
            <a:pPr algn="ctr"/>
            <a:r>
              <a:rPr sz="1500" b="0" i="0" u="none">
                <a:solidFill>
                  <a:srgbClr val="333333"/>
                </a:solidFill>
                <a:latin typeface="Georgia"/>
              </a:rPr>
              <a:t>Read the 47-page policy. Twice.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8000" y="4590000"/>
            <a:ext cx="396000" cy="216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800" b="0" i="0" u="none">
                <a:solidFill>
                  <a:srgbClr val="AAAAAA"/>
                </a:solidFill>
                <a:latin typeface="Aptos"/>
              </a:rPr>
              <a:t>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8000" y="5004000"/>
            <a:ext cx="10116000" cy="2232000"/>
          </a:xfrm>
          <a:prstGeom prst="rect">
            <a:avLst/>
          </a:prstGeom>
          <a:solidFill>
            <a:srgbClr val="F7E1D3"/>
          </a:solidFill>
          <a:ln w="9525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2000" rIns="72000" tIns="72000" bIns="72000"/>
          <a:lstStyle/>
          <a:p>
            <a:pPr algn="l"/>
            <a:r>
              <a:rPr sz="1800" b="1" i="0" u="none">
                <a:solidFill>
                  <a:srgbClr val="333333"/>
                </a:solidFill>
                <a:latin typeface="Georgia"/>
              </a:rPr>
              <a:t>How to play</a:t>
            </a:r>
          </a:p>
          <a:p>
            <a:pPr algn="l"/>
            <a:r>
              <a:rPr sz="1400" b="0" i="0" u="none">
                <a:solidFill>
                  <a:srgbClr val="333333"/>
                </a:solidFill>
                <a:latin typeface="Aptos"/>
              </a:rPr>
              <a:t>1. Lay out the four mats and the “None of the above” bin.</a:t>
            </a:r>
          </a:p>
          <a:p>
            <a:pPr algn="l"/>
            <a:r>
              <a:rPr sz="1400" b="0" i="0" u="none">
                <a:solidFill>
                  <a:srgbClr val="333333"/>
                </a:solidFill>
                <a:latin typeface="Aptos"/>
              </a:rPr>
              <a:t>2. Cut out the 14 cards, shuffle them, and share them round the table.</a:t>
            </a:r>
          </a:p>
          <a:p>
            <a:pPr algn="l"/>
            <a:r>
              <a:rPr sz="1400" b="0" i="0" u="none">
                <a:solidFill>
                  <a:srgbClr val="333333"/>
                </a:solidFill>
                <a:latin typeface="Aptos"/>
              </a:rPr>
              <a:t>3. Take turns: read your card aloud and put it on a mat. Some fit two: argue about it.</a:t>
            </a:r>
          </a:p>
          <a:p>
            <a:pPr algn="l"/>
            <a:r>
              <a:rPr sz="1400" b="0" i="0" u="none">
                <a:solidFill>
                  <a:srgbClr val="333333"/>
                </a:solidFill>
                <a:latin typeface="Aptos"/>
              </a:rPr>
              <a:t>4. Four minutes. Then: which of these did you just do in the last 25 minutes?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8000" y="144000"/>
            <a:ext cx="7092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000" b="1" i="0" u="none">
                <a:solidFill>
                  <a:srgbClr val="666666"/>
                </a:solidFill>
                <a:latin typeface="Aptos"/>
              </a:rPr>
              <a:t>Facilitator only · answers and arguments worth having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80000" y="144000"/>
            <a:ext cx="3024000" cy="288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r"/>
            <a:r>
              <a:rPr sz="700" b="0" i="0" u="none">
                <a:solidFill>
                  <a:srgbClr val="888888"/>
                </a:solidFill>
                <a:latin typeface="Aptos"/>
              </a:rPr>
              <a:t>Teaching That Lands · CC BY 4.0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504000"/>
            <a:ext cx="9972000" cy="6480000"/>
          </a:xfrm>
          <a:prstGeom prst="rect">
            <a:avLst/>
          </a:prstGeom>
          <a:noFill/>
        </p:spPr>
        <p:txBody>
          <a:bodyPr wrap="square" anchor="t" lIns="54000" rIns="54000" tIns="54000" bIns="54000">
            <a:spAutoFit/>
          </a:bodyPr>
          <a:lstStyle/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1. R: Before handover, the charge nurse fires three questions about yesterday's teaching. Notes stay in pockets.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2. R: A sticky note on the drug fridge: “Max dose of paracetamol? Answer under the flap.”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3. R + S: The Kahoot you did at the start of today.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4. S: The fire safety quiz returns on day 1, day 7 and day 30, like a sequel nobody asked for.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5. S: One question a week on the ward WhatsApp about last month's sepsis teaching.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6. S: These sessions: one week apart.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7. I: Six ECGs, but not all AF: AF, flutter, and one heart that's just showing off.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8. I: Drug calculations, shuffled: IV, oral and paediatric mixed together instead of one type at a time.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9. E: The student explains to a teddy bear why we check lying and standing blood pressure.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10. E: “But why?” asked five times in a row about hand hygiene, toddler-style.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11. E: “Where could this work in your teaching?” after each Menti question.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12. bin: Read the 47-page policy. Twice.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13. bin: Watch a 40-minute webinar at 1.5× speed.</a:t>
            </a:r>
          </a:p>
          <a:p>
            <a:pPr algn="l"/>
            <a:r>
              <a:rPr sz="1100" b="0" i="0" u="none">
                <a:solidFill>
                  <a:srgbClr val="333333"/>
                </a:solidFill>
                <a:latin typeface="Aptos"/>
              </a:rPr>
              <a:t>14. bin: Highlight everything in yellow. Then highlight the highlights in pink.</a:t>
            </a:r>
          </a:p>
          <a:p>
            <a:pPr algn="l"/>
            <a:r>
              <a:rPr sz="600" b="0" i="0" u="none">
                <a:solidFill>
                  <a:srgbClr val="333333"/>
                </a:solidFill>
                <a:latin typeface="Aptos"/>
              </a:rPr>
              <a:t/>
            </a:r>
          </a:p>
          <a:p>
            <a:pPr algn="l"/>
            <a:r>
              <a:rPr sz="1100" b="0" i="1" u="none">
                <a:solidFill>
                  <a:srgbClr val="333333"/>
                </a:solidFill>
                <a:latin typeface="Aptos"/>
              </a:rPr>
              <a:t>R = retrieval · S = spacing · I = interleaving · E = elaboration. Card 1 is spacing too if the teaching was yesterday. Card 6 only works because each session opens with retrieval. Card 13: faster isn't more active. Card 14: highlighting feels productive but is one of the weakest techniques (Dunlosky et al. 2013).</a:t>
            </a:r>
          </a:p>
          <a:p>
            <a:pPr algn="l"/>
            <a:r>
              <a:rPr sz="1300" b="1" i="0" u="none">
                <a:solidFill>
                  <a:srgbClr val="333333"/>
                </a:solidFill>
                <a:latin typeface="Aptos"/>
              </a:rPr>
              <a:t>Debrief: which did you just do in the last 25 minutes?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