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media/image1.org&amp;utm_campaign=index&amp;utm_content=thumbnail&amp;_=20210426211333" ContentType="image/jpeg"/>
  <Override PartName="/ppt/media/image2.org&amp;utm_campaign=index&amp;utm_content=thumbnail&amp;_=20230420173712" ContentType="image/jpeg"/>
  <Override PartName="/ppt/media/image3.org&amp;utm_campaign=imageinfo&amp;utm_content=thumbnail" ContentType="image/jpeg"/>
  <Override PartName="/ppt/media/image4.org&amp;utm_campaign=index&amp;utm_content=thumbnail&amp;_=20231206193107" ContentType="image/jpeg"/>
  <Override PartName="/ppt/media/image5.org&amp;utm_campaign=index&amp;utm_content=thumbnail_unscaled&amp;_=20240712142720" ContentType="image/jpeg"/>
  <Override PartName="/ppt/media/image6.org&amp;utm_campaign=index&amp;utm_content=thumbnail&amp;_=20050426133955" ContentType="image/jpeg"/>
  <Override PartName="/ppt/media/image7.org&amp;utm_campaign=index&amp;utm_content=thumbnail&amp;_=20190626134131" ContentType="image/jpeg"/>
  <Override PartName="/ppt/media/image8.org&amp;utm_campaign=index&amp;utm_content=thumbnail&amp;_=20200720021817" ContentType="image/jpe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 id="261" r:id="rId12"/>
  </p:sldIdLst>
  <p:sldSz cx="10691813" cy="755967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361"/>
    <p:restoredTop sz="81918"/>
  </p:normalViewPr>
  <p:slideViewPr>
    <p:cSldViewPr snapToGrid="0" snapToObjects="1">
      <p:cViewPr>
        <p:scale>
          <a:sx n="94" d="100"/>
          <a:sy n="94" d="100"/>
        </p:scale>
        <p:origin x="2272"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r>
              <a:rPr lang="en-GB" sz="700"/>
              <a:t>Falls per 1,000 occupied bed days by ward, Q1–Q4 (provisional, excl. Ward 7 March data)</a:t>
            </a:r>
          </a:p>
        </c:rich>
      </c:tx>
      <c:overlay val="0"/>
    </c:title>
    <c:autoTitleDeleted val="0"/>
    <c:plotArea>
      <c:layout/>
      <c:barChart>
        <c:barDir val="col"/>
        <c:grouping val="clustered"/>
        <c:varyColors val="1"/>
        <c:ser>
          <c:idx val="0"/>
          <c:order val="0"/>
          <c:tx>
            <c:strRef>
              <c:f>Sheet1!$B$1</c:f>
              <c:strCache>
                <c:ptCount val="1"/>
                <c:pt idx="0">
                  <c:v>Q1</c:v>
                </c:pt>
              </c:strCache>
            </c:strRef>
          </c:tx>
          <c:invertIfNegative val="1"/>
          <c:cat>
            <c:strRef>
              <c:f>Sheet1!$A$2:$A$13</c:f>
              <c:strCache>
                <c:ptCount val="12"/>
                <c:pt idx="0">
                  <c:v>Ward 1</c:v>
                </c:pt>
                <c:pt idx="1">
                  <c:v>Ward 2</c:v>
                </c:pt>
                <c:pt idx="2">
                  <c:v>Ward 3</c:v>
                </c:pt>
                <c:pt idx="3">
                  <c:v>Ward 4</c:v>
                </c:pt>
                <c:pt idx="4">
                  <c:v>Ward 5</c:v>
                </c:pt>
                <c:pt idx="5">
                  <c:v>Ward 6</c:v>
                </c:pt>
                <c:pt idx="6">
                  <c:v>Ward 7</c:v>
                </c:pt>
                <c:pt idx="7">
                  <c:v>Ward 8</c:v>
                </c:pt>
                <c:pt idx="8">
                  <c:v>Ward 9</c:v>
                </c:pt>
                <c:pt idx="9">
                  <c:v>Ward 10</c:v>
                </c:pt>
                <c:pt idx="10">
                  <c:v>Ward 11</c:v>
                </c:pt>
                <c:pt idx="11">
                  <c:v>Ward 12</c:v>
                </c:pt>
              </c:strCache>
            </c:strRef>
          </c:cat>
          <c:val>
            <c:numRef>
              <c:f>Sheet1!$B$2:$B$13</c:f>
              <c:numCache>
                <c:formatCode>General</c:formatCode>
                <c:ptCount val="12"/>
                <c:pt idx="0">
                  <c:v>5.0999999999999996</c:v>
                </c:pt>
                <c:pt idx="1">
                  <c:v>3.2</c:v>
                </c:pt>
                <c:pt idx="2">
                  <c:v>7.7</c:v>
                </c:pt>
                <c:pt idx="3">
                  <c:v>4</c:v>
                </c:pt>
                <c:pt idx="4">
                  <c:v>6.1</c:v>
                </c:pt>
                <c:pt idx="5">
                  <c:v>2.2000000000000002</c:v>
                </c:pt>
                <c:pt idx="6">
                  <c:v>8.8000000000000007</c:v>
                </c:pt>
                <c:pt idx="7">
                  <c:v>3.9</c:v>
                </c:pt>
                <c:pt idx="8">
                  <c:v>5.5</c:v>
                </c:pt>
                <c:pt idx="9">
                  <c:v>4.4000000000000004</c:v>
                </c:pt>
                <c:pt idx="10">
                  <c:v>6.6</c:v>
                </c:pt>
                <c:pt idx="11">
                  <c:v>3.1</c:v>
                </c:pt>
              </c:numCache>
            </c:numRef>
          </c:val>
          <c:extLst>
            <c:ext xmlns:c16="http://schemas.microsoft.com/office/drawing/2014/chart" uri="{C3380CC4-5D6E-409C-BE32-E72D297353CC}">
              <c16:uniqueId val="{00000000-2589-A64F-97AD-CA4E2DCC2B91}"/>
            </c:ext>
          </c:extLst>
        </c:ser>
        <c:ser>
          <c:idx val="1"/>
          <c:order val="1"/>
          <c:tx>
            <c:strRef>
              <c:f>Sheet1!$C$1</c:f>
              <c:strCache>
                <c:ptCount val="1"/>
                <c:pt idx="0">
                  <c:v>Q2</c:v>
                </c:pt>
              </c:strCache>
            </c:strRef>
          </c:tx>
          <c:invertIfNegative val="1"/>
          <c:cat>
            <c:strRef>
              <c:f>Sheet1!$A$2:$A$13</c:f>
              <c:strCache>
                <c:ptCount val="12"/>
                <c:pt idx="0">
                  <c:v>Ward 1</c:v>
                </c:pt>
                <c:pt idx="1">
                  <c:v>Ward 2</c:v>
                </c:pt>
                <c:pt idx="2">
                  <c:v>Ward 3</c:v>
                </c:pt>
                <c:pt idx="3">
                  <c:v>Ward 4</c:v>
                </c:pt>
                <c:pt idx="4">
                  <c:v>Ward 5</c:v>
                </c:pt>
                <c:pt idx="5">
                  <c:v>Ward 6</c:v>
                </c:pt>
                <c:pt idx="6">
                  <c:v>Ward 7</c:v>
                </c:pt>
                <c:pt idx="7">
                  <c:v>Ward 8</c:v>
                </c:pt>
                <c:pt idx="8">
                  <c:v>Ward 9</c:v>
                </c:pt>
                <c:pt idx="9">
                  <c:v>Ward 10</c:v>
                </c:pt>
                <c:pt idx="10">
                  <c:v>Ward 11</c:v>
                </c:pt>
                <c:pt idx="11">
                  <c:v>Ward 12</c:v>
                </c:pt>
              </c:strCache>
            </c:strRef>
          </c:cat>
          <c:val>
            <c:numRef>
              <c:f>Sheet1!$C$2:$C$13</c:f>
              <c:numCache>
                <c:formatCode>General</c:formatCode>
                <c:ptCount val="12"/>
                <c:pt idx="0">
                  <c:v>4.8</c:v>
                </c:pt>
                <c:pt idx="1">
                  <c:v>3.9</c:v>
                </c:pt>
                <c:pt idx="2">
                  <c:v>6.1</c:v>
                </c:pt>
                <c:pt idx="3">
                  <c:v>4.4000000000000004</c:v>
                </c:pt>
                <c:pt idx="4">
                  <c:v>5.9</c:v>
                </c:pt>
                <c:pt idx="5">
                  <c:v>2.8</c:v>
                </c:pt>
                <c:pt idx="6">
                  <c:v>7.2</c:v>
                </c:pt>
                <c:pt idx="7">
                  <c:v>4.0999999999999996</c:v>
                </c:pt>
                <c:pt idx="8">
                  <c:v>5</c:v>
                </c:pt>
                <c:pt idx="9">
                  <c:v>4.9000000000000004</c:v>
                </c:pt>
                <c:pt idx="10">
                  <c:v>6.2</c:v>
                </c:pt>
                <c:pt idx="11">
                  <c:v>3.5</c:v>
                </c:pt>
              </c:numCache>
            </c:numRef>
          </c:val>
          <c:extLst>
            <c:ext xmlns:c16="http://schemas.microsoft.com/office/drawing/2014/chart" uri="{C3380CC4-5D6E-409C-BE32-E72D297353CC}">
              <c16:uniqueId val="{00000001-2589-A64F-97AD-CA4E2DCC2B91}"/>
            </c:ext>
          </c:extLst>
        </c:ser>
        <c:ser>
          <c:idx val="2"/>
          <c:order val="2"/>
          <c:tx>
            <c:strRef>
              <c:f>Sheet1!$D$1</c:f>
              <c:strCache>
                <c:ptCount val="1"/>
                <c:pt idx="0">
                  <c:v>Q3</c:v>
                </c:pt>
              </c:strCache>
            </c:strRef>
          </c:tx>
          <c:invertIfNegative val="1"/>
          <c:cat>
            <c:strRef>
              <c:f>Sheet1!$A$2:$A$13</c:f>
              <c:strCache>
                <c:ptCount val="12"/>
                <c:pt idx="0">
                  <c:v>Ward 1</c:v>
                </c:pt>
                <c:pt idx="1">
                  <c:v>Ward 2</c:v>
                </c:pt>
                <c:pt idx="2">
                  <c:v>Ward 3</c:v>
                </c:pt>
                <c:pt idx="3">
                  <c:v>Ward 4</c:v>
                </c:pt>
                <c:pt idx="4">
                  <c:v>Ward 5</c:v>
                </c:pt>
                <c:pt idx="5">
                  <c:v>Ward 6</c:v>
                </c:pt>
                <c:pt idx="6">
                  <c:v>Ward 7</c:v>
                </c:pt>
                <c:pt idx="7">
                  <c:v>Ward 8</c:v>
                </c:pt>
                <c:pt idx="8">
                  <c:v>Ward 9</c:v>
                </c:pt>
                <c:pt idx="9">
                  <c:v>Ward 10</c:v>
                </c:pt>
                <c:pt idx="10">
                  <c:v>Ward 11</c:v>
                </c:pt>
                <c:pt idx="11">
                  <c:v>Ward 12</c:v>
                </c:pt>
              </c:strCache>
            </c:strRef>
          </c:cat>
          <c:val>
            <c:numRef>
              <c:f>Sheet1!$D$2:$D$13</c:f>
              <c:numCache>
                <c:formatCode>General</c:formatCode>
                <c:ptCount val="12"/>
                <c:pt idx="0">
                  <c:v>5.6</c:v>
                </c:pt>
                <c:pt idx="1">
                  <c:v>3.1</c:v>
                </c:pt>
                <c:pt idx="2">
                  <c:v>7.1</c:v>
                </c:pt>
                <c:pt idx="3">
                  <c:v>3.8</c:v>
                </c:pt>
                <c:pt idx="4">
                  <c:v>6.4</c:v>
                </c:pt>
                <c:pt idx="5">
                  <c:v>2.5</c:v>
                </c:pt>
                <c:pt idx="6">
                  <c:v>9.1</c:v>
                </c:pt>
                <c:pt idx="7">
                  <c:v>3.6</c:v>
                </c:pt>
                <c:pt idx="8">
                  <c:v>5.8</c:v>
                </c:pt>
                <c:pt idx="9">
                  <c:v>4.2</c:v>
                </c:pt>
                <c:pt idx="10">
                  <c:v>7</c:v>
                </c:pt>
                <c:pt idx="11">
                  <c:v>2.9</c:v>
                </c:pt>
              </c:numCache>
            </c:numRef>
          </c:val>
          <c:extLst>
            <c:ext xmlns:c16="http://schemas.microsoft.com/office/drawing/2014/chart" uri="{C3380CC4-5D6E-409C-BE32-E72D297353CC}">
              <c16:uniqueId val="{00000002-2589-A64F-97AD-CA4E2DCC2B91}"/>
            </c:ext>
          </c:extLst>
        </c:ser>
        <c:ser>
          <c:idx val="3"/>
          <c:order val="3"/>
          <c:tx>
            <c:strRef>
              <c:f>Sheet1!$E$1</c:f>
              <c:strCache>
                <c:ptCount val="1"/>
                <c:pt idx="0">
                  <c:v>Q4 (prov.)</c:v>
                </c:pt>
              </c:strCache>
            </c:strRef>
          </c:tx>
          <c:invertIfNegative val="1"/>
          <c:cat>
            <c:strRef>
              <c:f>Sheet1!$A$2:$A$13</c:f>
              <c:strCache>
                <c:ptCount val="12"/>
                <c:pt idx="0">
                  <c:v>Ward 1</c:v>
                </c:pt>
                <c:pt idx="1">
                  <c:v>Ward 2</c:v>
                </c:pt>
                <c:pt idx="2">
                  <c:v>Ward 3</c:v>
                </c:pt>
                <c:pt idx="3">
                  <c:v>Ward 4</c:v>
                </c:pt>
                <c:pt idx="4">
                  <c:v>Ward 5</c:v>
                </c:pt>
                <c:pt idx="5">
                  <c:v>Ward 6</c:v>
                </c:pt>
                <c:pt idx="6">
                  <c:v>Ward 7</c:v>
                </c:pt>
                <c:pt idx="7">
                  <c:v>Ward 8</c:v>
                </c:pt>
                <c:pt idx="8">
                  <c:v>Ward 9</c:v>
                </c:pt>
                <c:pt idx="9">
                  <c:v>Ward 10</c:v>
                </c:pt>
                <c:pt idx="10">
                  <c:v>Ward 11</c:v>
                </c:pt>
                <c:pt idx="11">
                  <c:v>Ward 12</c:v>
                </c:pt>
              </c:strCache>
            </c:strRef>
          </c:cat>
          <c:val>
            <c:numRef>
              <c:f>Sheet1!$E$2:$E$13</c:f>
              <c:numCache>
                <c:formatCode>General</c:formatCode>
                <c:ptCount val="12"/>
                <c:pt idx="0">
                  <c:v>4.9000000000000004</c:v>
                </c:pt>
                <c:pt idx="1">
                  <c:v>3.6</c:v>
                </c:pt>
                <c:pt idx="2">
                  <c:v>6.8</c:v>
                </c:pt>
                <c:pt idx="3">
                  <c:v>4.2</c:v>
                </c:pt>
                <c:pt idx="4">
                  <c:v>6</c:v>
                </c:pt>
                <c:pt idx="5">
                  <c:v>2.7</c:v>
                </c:pt>
                <c:pt idx="6">
                  <c:v>8.1</c:v>
                </c:pt>
                <c:pt idx="7">
                  <c:v>4</c:v>
                </c:pt>
                <c:pt idx="8">
                  <c:v>5.2</c:v>
                </c:pt>
                <c:pt idx="9">
                  <c:v>4.5999999999999996</c:v>
                </c:pt>
                <c:pt idx="10">
                  <c:v>6.4</c:v>
                </c:pt>
                <c:pt idx="11">
                  <c:v>3.3</c:v>
                </c:pt>
              </c:numCache>
            </c:numRef>
          </c:val>
          <c:extLst>
            <c:ext xmlns:c16="http://schemas.microsoft.com/office/drawing/2014/chart" uri="{C3380CC4-5D6E-409C-BE32-E72D297353CC}">
              <c16:uniqueId val="{00000003-2589-A64F-97AD-CA4E2DCC2B91}"/>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500"/>
            </a:pPr>
            <a:endParaRPr lang="en-US"/>
          </a:p>
        </c:txPr>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txPr>
          <a:bodyPr/>
          <a:lstStyle/>
          <a:p>
            <a:pPr>
              <a:defRPr sz="500"/>
            </a:pPr>
            <a:endParaRPr lang="en-US"/>
          </a:p>
        </c:txPr>
        <c:crossAx val="-2068027336"/>
        <c:crosses val="autoZero"/>
        <c:crossBetween val="between"/>
      </c:valAx>
    </c:plotArea>
    <c:legend>
      <c:legendPos val="r"/>
      <c:overlay val="1"/>
      <c:txPr>
        <a:bodyPr/>
        <a:lstStyle/>
        <a:p>
          <a:pPr>
            <a:defRPr sz="600"/>
          </a:pPr>
          <a:endParaRPr lang="en-US"/>
        </a:p>
      </c:txPr>
    </c:legend>
    <c:plotVisOnly val="1"/>
    <c:dispBlanksAs val="gap"/>
    <c:showDLblsOverMax val="1"/>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r>
              <a:rPr lang="en-GB" sz="1600"/>
              <a:t>Falls on our ward</a:t>
            </a:r>
          </a:p>
        </c:rich>
      </c:tx>
      <c:overlay val="0"/>
    </c:title>
    <c:autoTitleDeleted val="0"/>
    <c:plotArea>
      <c:layout/>
      <c:barChart>
        <c:barDir val="col"/>
        <c:grouping val="clustered"/>
        <c:varyColors val="1"/>
        <c:ser>
          <c:idx val="0"/>
          <c:order val="0"/>
          <c:tx>
            <c:strRef>
              <c:f>Sheet1!$B$1</c:f>
              <c:strCache>
                <c:ptCount val="1"/>
                <c:pt idx="0">
                  <c:v>Falls</c:v>
                </c:pt>
              </c:strCache>
            </c:strRef>
          </c:tx>
          <c:spPr>
            <a:solidFill>
              <a:srgbClr val="1F3A68"/>
            </a:solidFill>
          </c:spPr>
          <c:invertIfNegative val="1"/>
          <c:cat>
            <c:strRef>
              <c:f>Sheet1!$A$2:$A$7</c:f>
              <c:strCache>
                <c:ptCount val="6"/>
                <c:pt idx="0">
                  <c:v>Jan</c:v>
                </c:pt>
                <c:pt idx="1">
                  <c:v>Feb</c:v>
                </c:pt>
                <c:pt idx="2">
                  <c:v>Mar</c:v>
                </c:pt>
                <c:pt idx="3">
                  <c:v>Apr</c:v>
                </c:pt>
                <c:pt idx="4">
                  <c:v>May</c:v>
                </c:pt>
                <c:pt idx="5">
                  <c:v>Jun</c:v>
                </c:pt>
              </c:strCache>
            </c:strRef>
          </c:cat>
          <c:val>
            <c:numRef>
              <c:f>Sheet1!$B$2:$B$7</c:f>
              <c:numCache>
                <c:formatCode>General</c:formatCode>
                <c:ptCount val="6"/>
                <c:pt idx="0">
                  <c:v>6</c:v>
                </c:pt>
                <c:pt idx="1">
                  <c:v>5</c:v>
                </c:pt>
                <c:pt idx="2">
                  <c:v>7</c:v>
                </c:pt>
                <c:pt idx="3">
                  <c:v>4</c:v>
                </c:pt>
                <c:pt idx="4">
                  <c:v>3</c:v>
                </c:pt>
                <c:pt idx="5">
                  <c:v>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736-0E42-8BA5-A1BA1C4D28A3}"/>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1400"/>
            </a:pPr>
            <a:endParaRPr lang="en-US"/>
          </a:p>
        </c:txPr>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txPr>
          <a:bodyPr/>
          <a:lstStyle/>
          <a:p>
            <a:pPr>
              <a:defRPr sz="12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B0641B-FF9D-E54C-B5A5-030601CB5DCF}" type="datetimeFigureOut">
              <a:rPr lang="en-GB" smtClean="0"/>
              <a:t>02/10/2026</a:t>
            </a:fld>
            <a:endParaRPr lang="en-GB"/>
          </a:p>
        </p:txBody>
      </p:sp>
      <p:sp>
        <p:nvSpPr>
          <p:cNvPr id="4" name="Slide Image Placeholder 3"/>
          <p:cNvSpPr>
            <a:spLocks noGrp="1" noRot="1" noChangeAspect="1"/>
          </p:cNvSpPr>
          <p:nvPr>
            <p:ph type="sldImg" idx="2"/>
          </p:nvPr>
        </p:nvSpPr>
        <p:spPr>
          <a:xfrm>
            <a:off x="1246188" y="1143000"/>
            <a:ext cx="43656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2BC4A0-D636-9941-92DE-8431005AF482}" type="slidenum">
              <a:rPr lang="en-GB" smtClean="0"/>
              <a:t>‹#›</a:t>
            </a:fld>
            <a:endParaRPr lang="en-GB"/>
          </a:p>
        </p:txBody>
      </p:sp>
    </p:spTree>
    <p:extLst>
      <p:ext uri="{BB962C8B-B14F-4D97-AF65-F5344CB8AC3E}">
        <p14:creationId xmlns:p14="http://schemas.microsoft.com/office/powerpoint/2010/main" val="37226360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t>
            </a:r>
            <a:r>
              <a:rPr lang="en-GB" sz="1200" b="0" i="0" u="none" strike="noStrike" kern="1200" dirty="0" err="1">
                <a:solidFill>
                  <a:schemeClr val="tx1"/>
                </a:solidFill>
                <a:effectLst/>
                <a:latin typeface="+mn-lt"/>
                <a:ea typeface="+mn-ea"/>
                <a:cs typeface="+mn-cs"/>
              </a:rPr>
              <a:t>Paciente</a:t>
            </a:r>
            <a:r>
              <a:rPr lang="en-GB" sz="1200" b="0" i="0" u="none" strike="noStrike" kern="1200" dirty="0">
                <a:solidFill>
                  <a:schemeClr val="tx1"/>
                </a:solidFill>
                <a:effectLst/>
                <a:latin typeface="+mn-lt"/>
                <a:ea typeface="+mn-ea"/>
                <a:cs typeface="+mn-cs"/>
              </a:rPr>
              <a:t> </a:t>
            </a:r>
            <a:r>
              <a:rPr lang="en-GB" sz="1200" b="0" i="0" u="none" strike="noStrike" kern="1200" dirty="0" err="1">
                <a:solidFill>
                  <a:schemeClr val="tx1"/>
                </a:solidFill>
                <a:effectLst/>
                <a:latin typeface="+mn-lt"/>
                <a:ea typeface="+mn-ea"/>
                <a:cs typeface="+mn-cs"/>
              </a:rPr>
              <a:t>em</a:t>
            </a:r>
            <a:r>
              <a:rPr lang="en-GB" sz="1200" b="0" i="0" u="none" strike="noStrike" kern="1200" dirty="0">
                <a:solidFill>
                  <a:schemeClr val="tx1"/>
                </a:solidFill>
                <a:effectLst/>
                <a:latin typeface="+mn-lt"/>
                <a:ea typeface="+mn-ea"/>
                <a:cs typeface="+mn-cs"/>
              </a:rPr>
              <a:t> </a:t>
            </a:r>
            <a:r>
              <a:rPr lang="en-GB" sz="1200" b="0" i="0" u="none" strike="noStrike" kern="1200" dirty="0" err="1">
                <a:solidFill>
                  <a:schemeClr val="tx1"/>
                </a:solidFill>
                <a:effectLst/>
                <a:latin typeface="+mn-lt"/>
                <a:ea typeface="+mn-ea"/>
                <a:cs typeface="+mn-cs"/>
              </a:rPr>
              <a:t>recuperação</a:t>
            </a:r>
            <a:r>
              <a:rPr lang="en-GB" sz="1200" b="0" i="0" u="none" strike="noStrike" kern="1200" dirty="0">
                <a:solidFill>
                  <a:schemeClr val="tx1"/>
                </a:solidFill>
                <a:effectLst/>
                <a:latin typeface="+mn-lt"/>
                <a:ea typeface="+mn-ea"/>
                <a:cs typeface="+mn-cs"/>
              </a:rPr>
              <a:t> da COVID-19 </a:t>
            </a:r>
            <a:r>
              <a:rPr lang="en-GB" sz="1200" b="0" i="0" u="none" strike="noStrike" kern="1200" dirty="0" err="1">
                <a:solidFill>
                  <a:schemeClr val="tx1"/>
                </a:solidFill>
                <a:effectLst/>
                <a:latin typeface="+mn-lt"/>
                <a:ea typeface="+mn-ea"/>
                <a:cs typeface="+mn-cs"/>
              </a:rPr>
              <a:t>fazendo</a:t>
            </a:r>
            <a:r>
              <a:rPr lang="en-GB" sz="1200" b="0" i="0" u="none" strike="noStrike" kern="1200" dirty="0">
                <a:solidFill>
                  <a:schemeClr val="tx1"/>
                </a:solidFill>
                <a:effectLst/>
                <a:latin typeface="+mn-lt"/>
                <a:ea typeface="+mn-ea"/>
                <a:cs typeface="+mn-cs"/>
              </a:rPr>
              <a:t> </a:t>
            </a:r>
            <a:r>
              <a:rPr lang="en-GB" sz="1200" b="0" i="0" u="none" strike="noStrike" kern="1200" dirty="0" err="1">
                <a:solidFill>
                  <a:schemeClr val="tx1"/>
                </a:solidFill>
                <a:effectLst/>
                <a:latin typeface="+mn-lt"/>
                <a:ea typeface="+mn-ea"/>
                <a:cs typeface="+mn-cs"/>
              </a:rPr>
              <a:t>oxigenoterapia</a:t>
            </a:r>
            <a:r>
              <a:rPr lang="en-GB" sz="1200" b="0" i="0" u="none" strike="noStrike" kern="1200" dirty="0">
                <a:solidFill>
                  <a:schemeClr val="tx1"/>
                </a:solidFill>
                <a:effectLst/>
                <a:latin typeface="+mn-lt"/>
                <a:ea typeface="+mn-ea"/>
                <a:cs typeface="+mn-cs"/>
              </a:rPr>
              <a:t> via </a:t>
            </a:r>
            <a:r>
              <a:rPr lang="en-GB" sz="1200" b="0" i="0" u="none" strike="noStrike" kern="1200" dirty="0" err="1">
                <a:solidFill>
                  <a:schemeClr val="tx1"/>
                </a:solidFill>
                <a:effectLst/>
                <a:latin typeface="+mn-lt"/>
                <a:ea typeface="+mn-ea"/>
                <a:cs typeface="+mn-cs"/>
              </a:rPr>
              <a:t>cânula</a:t>
            </a:r>
            <a:r>
              <a:rPr lang="en-GB" sz="1200" b="0" i="0" u="none" strike="noStrike" kern="1200" dirty="0">
                <a:solidFill>
                  <a:schemeClr val="tx1"/>
                </a:solidFill>
                <a:effectLst/>
                <a:latin typeface="+mn-lt"/>
                <a:ea typeface="+mn-ea"/>
                <a:cs typeface="+mn-cs"/>
              </a:rPr>
              <a:t> nasal.” by </a:t>
            </a:r>
            <a:r>
              <a:rPr lang="en-GB" sz="1200" b="0" i="0" u="none" strike="noStrike" kern="1200" dirty="0" err="1">
                <a:solidFill>
                  <a:schemeClr val="tx1"/>
                </a:solidFill>
                <a:effectLst/>
                <a:latin typeface="+mn-lt"/>
                <a:ea typeface="+mn-ea"/>
                <a:cs typeface="+mn-cs"/>
              </a:rPr>
              <a:t>Parzeus</a:t>
            </a:r>
            <a:r>
              <a:rPr lang="en-GB" sz="1200" b="0" i="0" u="none" strike="noStrike" kern="1200" dirty="0">
                <a:solidFill>
                  <a:schemeClr val="tx1"/>
                </a:solidFill>
                <a:effectLst/>
                <a:latin typeface="+mn-lt"/>
                <a:ea typeface="+mn-ea"/>
                <a:cs typeface="+mn-cs"/>
              </a:rPr>
              <a:t> (CC BY-SA 4.0):</a:t>
            </a:r>
            <a:r>
              <a:rPr lang="en-GB" dirty="0"/>
              <a:t> https://</a:t>
            </a:r>
            <a:r>
              <a:rPr lang="en-GB" dirty="0" err="1"/>
              <a:t>commons.wikimedia.org</a:t>
            </a:r>
            <a:r>
              <a:rPr lang="en-GB" dirty="0"/>
              <a:t>/wiki/File:Oxigenoterapia_para_COVID-19_-_São_Borja_23-04-2021.jpg</a:t>
            </a:r>
          </a:p>
        </p:txBody>
      </p:sp>
      <p:sp>
        <p:nvSpPr>
          <p:cNvPr id="4" name="Slide Number Placeholder 3"/>
          <p:cNvSpPr>
            <a:spLocks noGrp="1"/>
          </p:cNvSpPr>
          <p:nvPr>
            <p:ph type="sldNum" sz="quarter" idx="5"/>
          </p:nvPr>
        </p:nvSpPr>
        <p:spPr/>
        <p:txBody>
          <a:bodyPr/>
          <a:lstStyle/>
          <a:p>
            <a:fld id="{E92BC4A0-D636-9941-92DE-8431005AF482}" type="slidenum">
              <a:rPr lang="en-GB" smtClean="0"/>
              <a:t>2</a:t>
            </a:fld>
            <a:endParaRPr lang="en-GB"/>
          </a:p>
        </p:txBody>
      </p:sp>
    </p:spTree>
    <p:extLst>
      <p:ext uri="{BB962C8B-B14F-4D97-AF65-F5344CB8AC3E}">
        <p14:creationId xmlns:p14="http://schemas.microsoft.com/office/powerpoint/2010/main" val="22405079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Bed: “</a:t>
            </a:r>
            <a:r>
              <a:rPr lang="en-GB" sz="1200" b="0" i="0" u="none" strike="noStrike" kern="1200" dirty="0">
                <a:solidFill>
                  <a:schemeClr val="tx1"/>
                </a:solidFill>
                <a:effectLst/>
                <a:latin typeface="+mn-lt"/>
                <a:ea typeface="+mn-ea"/>
                <a:cs typeface="+mn-cs"/>
              </a:rPr>
              <a:t>A Modern Hospital Bed at out-patients clinic in Pok Oi Hospital in Yuen Long, Hong Kong” by Peachyeung316 (CC BY-SA 4.0): https://</a:t>
            </a:r>
            <a:r>
              <a:rPr lang="en-GB" sz="1200" b="0" i="0" u="none" strike="noStrike" kern="1200" dirty="0" err="1">
                <a:solidFill>
                  <a:schemeClr val="tx1"/>
                </a:solidFill>
                <a:effectLst/>
                <a:latin typeface="+mn-lt"/>
                <a:ea typeface="+mn-ea"/>
                <a:cs typeface="+mn-cs"/>
              </a:rPr>
              <a:t>commons.wikimedia.org</a:t>
            </a:r>
            <a:r>
              <a:rPr lang="en-GB" sz="1200" b="0" i="0" u="none" strike="noStrike" kern="1200" dirty="0">
                <a:solidFill>
                  <a:schemeClr val="tx1"/>
                </a:solidFill>
                <a:effectLst/>
                <a:latin typeface="+mn-lt"/>
                <a:ea typeface="+mn-ea"/>
                <a:cs typeface="+mn-cs"/>
              </a:rPr>
              <a:t>/wiki/</a:t>
            </a:r>
            <a:r>
              <a:rPr lang="en-GB" sz="1200" b="0" i="0" u="none" strike="noStrike" kern="1200" dirty="0" err="1">
                <a:solidFill>
                  <a:schemeClr val="tx1"/>
                </a:solidFill>
                <a:effectLst/>
                <a:latin typeface="+mn-lt"/>
                <a:ea typeface="+mn-ea"/>
                <a:cs typeface="+mn-cs"/>
              </a:rPr>
              <a:t>File:A_Modern_Hospital_Bed_in_Pok_Oi_Hospital.jpg</a:t>
            </a:r>
            <a:endParaRPr lang="en-GB" dirty="0"/>
          </a:p>
          <a:p>
            <a:endParaRPr lang="en-GB" dirty="0"/>
          </a:p>
          <a:p>
            <a:r>
              <a:rPr lang="en-GB" dirty="0"/>
              <a:t>Bell: “Sonnette de type </a:t>
            </a:r>
            <a:r>
              <a:rPr lang="en-GB" dirty="0" err="1"/>
              <a:t>hôtel</a:t>
            </a:r>
            <a:r>
              <a:rPr lang="en-GB" dirty="0"/>
              <a:t> </a:t>
            </a:r>
            <a:r>
              <a:rPr lang="en-GB" dirty="0" err="1"/>
              <a:t>ou</a:t>
            </a:r>
            <a:r>
              <a:rPr lang="en-GB" dirty="0"/>
              <a:t> de table. Elle </a:t>
            </a:r>
            <a:r>
              <a:rPr lang="en-GB" dirty="0" err="1"/>
              <a:t>s'actionne</a:t>
            </a:r>
            <a:r>
              <a:rPr lang="en-GB" dirty="0"/>
              <a:t> </a:t>
            </a:r>
            <a:r>
              <a:rPr lang="en-GB" dirty="0" err="1"/>
              <a:t>en</a:t>
            </a:r>
            <a:r>
              <a:rPr lang="en-GB" dirty="0"/>
              <a:t> </a:t>
            </a:r>
            <a:r>
              <a:rPr lang="en-GB" dirty="0" err="1"/>
              <a:t>faisant</a:t>
            </a:r>
            <a:r>
              <a:rPr lang="en-GB" dirty="0"/>
              <a:t> </a:t>
            </a:r>
            <a:r>
              <a:rPr lang="en-GB" dirty="0" err="1"/>
              <a:t>tourner</a:t>
            </a:r>
            <a:r>
              <a:rPr lang="en-GB" dirty="0"/>
              <a:t> la petite </a:t>
            </a:r>
            <a:r>
              <a:rPr lang="en-GB" dirty="0" err="1"/>
              <a:t>partie</a:t>
            </a:r>
            <a:r>
              <a:rPr lang="en-GB" dirty="0"/>
              <a:t> supérieure.</a:t>
            </a:r>
            <a:r>
              <a:rPr lang="en-GB" sz="1200" b="0" i="0" u="none" strike="noStrike" kern="1200" dirty="0">
                <a:solidFill>
                  <a:schemeClr val="tx1"/>
                </a:solidFill>
                <a:effectLst/>
                <a:latin typeface="+mn-lt"/>
                <a:ea typeface="+mn-ea"/>
                <a:cs typeface="+mn-cs"/>
              </a:rPr>
              <a:t>” by </a:t>
            </a:r>
            <a:r>
              <a:rPr lang="en-GB" sz="1200" b="0" i="0" u="none" strike="noStrike" kern="1200" dirty="0" err="1">
                <a:solidFill>
                  <a:schemeClr val="tx1"/>
                </a:solidFill>
                <a:effectLst/>
                <a:latin typeface="+mn-lt"/>
                <a:ea typeface="+mn-ea"/>
                <a:cs typeface="+mn-cs"/>
              </a:rPr>
              <a:t>Ceridwen~commonswiki</a:t>
            </a:r>
            <a:r>
              <a:rPr lang="en-GB" sz="1200" b="0" i="0" u="none" strike="noStrike" kern="1200" dirty="0">
                <a:solidFill>
                  <a:schemeClr val="tx1"/>
                </a:solidFill>
                <a:effectLst/>
                <a:latin typeface="+mn-lt"/>
                <a:ea typeface="+mn-ea"/>
                <a:cs typeface="+mn-cs"/>
              </a:rPr>
              <a:t> (CC BY-SA 4.0): </a:t>
            </a:r>
            <a:r>
              <a:rPr lang="en-GB" dirty="0"/>
              <a:t>https://</a:t>
            </a:r>
            <a:r>
              <a:rPr lang="en-GB" dirty="0" err="1"/>
              <a:t>commons.wikimedia.org</a:t>
            </a:r>
            <a:r>
              <a:rPr lang="en-GB" dirty="0"/>
              <a:t>/wiki/File:Sonnette_1.jpg</a:t>
            </a:r>
          </a:p>
          <a:p>
            <a:endParaRPr lang="en-GB" dirty="0"/>
          </a:p>
          <a:p>
            <a:r>
              <a:rPr lang="en-GB" dirty="0"/>
              <a:t>Shoes: ”</a:t>
            </a:r>
            <a:r>
              <a:rPr lang="en-GB" sz="1200" b="0" i="0" u="none" strike="noStrike" kern="1200" dirty="0">
                <a:solidFill>
                  <a:schemeClr val="tx1"/>
                </a:solidFill>
                <a:effectLst/>
                <a:latin typeface="+mn-lt"/>
                <a:ea typeface="+mn-ea"/>
                <a:cs typeface="+mn-cs"/>
              </a:rPr>
              <a:t> Nike SB Dunk Low Pro shoes” by Jacek Halicki (CC BY-SA 4.0): </a:t>
            </a:r>
            <a:r>
              <a:rPr lang="en-GB" dirty="0"/>
              <a:t>https://</a:t>
            </a:r>
            <a:r>
              <a:rPr lang="en-GB" dirty="0" err="1"/>
              <a:t>commons.wikimedia.org</a:t>
            </a:r>
            <a:r>
              <a:rPr lang="en-GB" dirty="0"/>
              <a:t>/wiki/File:2023_Nike_SB_Dunk_Low_Pro_(3).jpg</a:t>
            </a:r>
          </a:p>
          <a:p>
            <a:endParaRPr lang="en-GB" dirty="0"/>
          </a:p>
          <a:p>
            <a:r>
              <a:rPr lang="en-GB" dirty="0"/>
              <a:t>Ward: “</a:t>
            </a:r>
            <a:r>
              <a:rPr lang="en-GB" sz="1200" b="0" i="0" u="none" strike="noStrike" kern="1200" dirty="0">
                <a:solidFill>
                  <a:schemeClr val="tx1"/>
                </a:solidFill>
                <a:effectLst/>
                <a:latin typeface="+mn-lt"/>
                <a:ea typeface="+mn-ea"/>
                <a:cs typeface="+mn-cs"/>
              </a:rPr>
              <a:t>Worcestershire Royal Hospital - 21st century ward” by Chris Allen (CC BY-SA 2.0) </a:t>
            </a:r>
            <a:r>
              <a:rPr lang="en-GB" dirty="0"/>
              <a:t>https://</a:t>
            </a:r>
            <a:r>
              <a:rPr lang="en-GB" dirty="0" err="1"/>
              <a:t>commons.wikimedia.org</a:t>
            </a:r>
            <a:r>
              <a:rPr lang="en-GB" dirty="0"/>
              <a:t>/wiki/File:Worcestershire_Royal_Hospital_-_21st_century_ward_-_geograph.org.uk_-_6481391.jpg</a:t>
            </a:r>
          </a:p>
        </p:txBody>
      </p:sp>
      <p:sp>
        <p:nvSpPr>
          <p:cNvPr id="4" name="Slide Number Placeholder 3"/>
          <p:cNvSpPr>
            <a:spLocks noGrp="1"/>
          </p:cNvSpPr>
          <p:nvPr>
            <p:ph type="sldNum" sz="quarter" idx="5"/>
          </p:nvPr>
        </p:nvSpPr>
        <p:spPr/>
        <p:txBody>
          <a:bodyPr/>
          <a:lstStyle/>
          <a:p>
            <a:fld id="{E92BC4A0-D636-9941-92DE-8431005AF482}" type="slidenum">
              <a:rPr lang="en-GB" smtClean="0"/>
              <a:t>3</a:t>
            </a:fld>
            <a:endParaRPr lang="en-GB"/>
          </a:p>
        </p:txBody>
      </p:sp>
    </p:spTree>
    <p:extLst>
      <p:ext uri="{BB962C8B-B14F-4D97-AF65-F5344CB8AC3E}">
        <p14:creationId xmlns:p14="http://schemas.microsoft.com/office/powerpoint/2010/main" val="27825012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Hospital Ward: “</a:t>
            </a:r>
            <a:r>
              <a:rPr lang="en-GB" sz="1200" b="0" i="0" u="none" strike="noStrike" kern="1200" dirty="0">
                <a:solidFill>
                  <a:schemeClr val="tx1"/>
                </a:solidFill>
                <a:effectLst/>
                <a:latin typeface="+mn-lt"/>
                <a:ea typeface="+mn-ea"/>
                <a:cs typeface="+mn-cs"/>
              </a:rPr>
              <a:t>A hospital room with 2 beds in a Danish Hospital” by Tomasz Sienicki (Public Domain): </a:t>
            </a:r>
            <a:r>
              <a:rPr lang="en-GB" dirty="0"/>
              <a:t>https://</a:t>
            </a:r>
            <a:r>
              <a:rPr lang="en-GB" dirty="0" err="1"/>
              <a:t>commons.wikimedia.org</a:t>
            </a:r>
            <a:r>
              <a:rPr lang="en-GB" dirty="0"/>
              <a:t>/wiki/</a:t>
            </a:r>
            <a:r>
              <a:rPr lang="en-GB" dirty="0" err="1"/>
              <a:t>File:Hospital_room_ubt.jpeg</a:t>
            </a:r>
            <a:endParaRPr lang="en-GB" dirty="0"/>
          </a:p>
          <a:p>
            <a:endParaRPr lang="en-GB" dirty="0"/>
          </a:p>
          <a:p>
            <a:r>
              <a:rPr lang="en-GB" dirty="0"/>
              <a:t>Zimmer frame: “</a:t>
            </a:r>
            <a:r>
              <a:rPr lang="en-GB" sz="1200" b="0" i="0" u="none" strike="noStrike" kern="1200" dirty="0">
                <a:solidFill>
                  <a:schemeClr val="tx1"/>
                </a:solidFill>
                <a:effectLst/>
                <a:latin typeface="+mn-lt"/>
                <a:ea typeface="+mn-ea"/>
                <a:cs typeface="+mn-cs"/>
              </a:rPr>
              <a:t>A woman supporting herself with a walking frame” by </a:t>
            </a:r>
            <a:r>
              <a:rPr lang="en-GB" sz="1200" b="0" i="0" u="none" strike="noStrike" kern="1200" dirty="0" err="1">
                <a:solidFill>
                  <a:schemeClr val="tx1"/>
                </a:solidFill>
                <a:effectLst/>
                <a:latin typeface="+mn-lt"/>
                <a:ea typeface="+mn-ea"/>
                <a:cs typeface="+mn-cs"/>
              </a:rPr>
              <a:t>rawpixel.com</a:t>
            </a:r>
            <a:r>
              <a:rPr lang="en-GB" sz="1200" b="0" i="0" u="none" strike="noStrike" kern="1200" dirty="0">
                <a:solidFill>
                  <a:schemeClr val="tx1"/>
                </a:solidFill>
                <a:effectLst/>
                <a:latin typeface="+mn-lt"/>
                <a:ea typeface="+mn-ea"/>
                <a:cs typeface="+mn-cs"/>
              </a:rPr>
              <a:t> (CC0 1.0): </a:t>
            </a:r>
            <a:r>
              <a:rPr lang="en-GB" dirty="0"/>
              <a:t>https://</a:t>
            </a:r>
            <a:r>
              <a:rPr lang="en-GB" dirty="0" err="1"/>
              <a:t>commons.wikimedia.org</a:t>
            </a:r>
            <a:r>
              <a:rPr lang="en-GB" dirty="0"/>
              <a:t>/wiki/</a:t>
            </a:r>
            <a:r>
              <a:rPr lang="en-GB" dirty="0" err="1"/>
              <a:t>File:A_woman_supporting_herself_with_a_walking_frame.jpg</a:t>
            </a:r>
            <a:endParaRPr lang="en-GB" dirty="0"/>
          </a:p>
          <a:p>
            <a:endParaRPr lang="en-GB" dirty="0"/>
          </a:p>
          <a:p>
            <a:r>
              <a:rPr lang="en-GB" dirty="0"/>
              <a:t>Crutches: “</a:t>
            </a:r>
            <a:r>
              <a:rPr lang="en-GB" sz="1200" b="0" i="0" u="none" strike="noStrike" kern="1200" dirty="0">
                <a:solidFill>
                  <a:schemeClr val="tx1"/>
                </a:solidFill>
                <a:effectLst/>
                <a:latin typeface="+mn-lt"/>
                <a:ea typeface="+mn-ea"/>
                <a:cs typeface="+mn-cs"/>
              </a:rPr>
              <a:t>A doctor assisting a foot injured boy to walk with crutches.” by Awesome Content (for </a:t>
            </a:r>
            <a:r>
              <a:rPr lang="en-GB" sz="1200" b="0" i="0" u="none" strike="noStrike" kern="1200">
                <a:solidFill>
                  <a:schemeClr val="tx1"/>
                </a:solidFill>
                <a:effectLst/>
                <a:latin typeface="+mn-lt"/>
                <a:ea typeface="+mn-ea"/>
                <a:cs typeface="+mn-cs"/>
              </a:rPr>
              <a:t>any purpose): </a:t>
            </a:r>
            <a:r>
              <a:rPr lang="en-GB"/>
              <a:t>https</a:t>
            </a:r>
            <a:r>
              <a:rPr lang="en-GB" dirty="0"/>
              <a:t>://</a:t>
            </a:r>
            <a:r>
              <a:rPr lang="en-GB" dirty="0" err="1"/>
              <a:t>commons.wikimedia.org</a:t>
            </a:r>
            <a:r>
              <a:rPr lang="en-GB" dirty="0"/>
              <a:t>/wiki/File:Doctor_assisting_foot_injured_boy_to_walk_with_crutches.jpg</a:t>
            </a:r>
          </a:p>
        </p:txBody>
      </p:sp>
      <p:sp>
        <p:nvSpPr>
          <p:cNvPr id="4" name="Slide Number Placeholder 3"/>
          <p:cNvSpPr>
            <a:spLocks noGrp="1"/>
          </p:cNvSpPr>
          <p:nvPr>
            <p:ph type="sldNum" sz="quarter" idx="5"/>
          </p:nvPr>
        </p:nvSpPr>
        <p:spPr/>
        <p:txBody>
          <a:bodyPr/>
          <a:lstStyle/>
          <a:p>
            <a:fld id="{E92BC4A0-D636-9941-92DE-8431005AF482}" type="slidenum">
              <a:rPr lang="en-GB" smtClean="0"/>
              <a:t>4</a:t>
            </a:fld>
            <a:endParaRPr lang="en-GB"/>
          </a:p>
        </p:txBody>
      </p:sp>
    </p:spTree>
    <p:extLst>
      <p:ext uri="{BB962C8B-B14F-4D97-AF65-F5344CB8AC3E}">
        <p14:creationId xmlns:p14="http://schemas.microsoft.com/office/powerpoint/2010/main" val="15095247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org&amp;utm_campaign=index&amp;utm_content=thumbnail&amp;_=20210426211333"/></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org&amp;utm_campaign=index&amp;utm_content=thumbnail&amp;_=20230420173712"/><Relationship Id="rId4" Type="http://schemas.openxmlformats.org/officeDocument/2006/relationships/image" Target="../media/image3.org&amp;utm_campaign=imageinfo&amp;utm_content=thumbnail"/><Relationship Id="rId5" Type="http://schemas.openxmlformats.org/officeDocument/2006/relationships/image" Target="../media/image4.org&amp;utm_campaign=index&amp;utm_content=thumbnail&amp;_=20231206193107"/><Relationship Id="rId6" Type="http://schemas.openxmlformats.org/officeDocument/2006/relationships/image" Target="../media/image5.org&amp;utm_campaign=index&amp;utm_content=thumbnail_unscaled&amp;_=20240712142720"/></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chart" Target="../charts/chart1.xml"/><Relationship Id="rId4" Type="http://schemas.openxmlformats.org/officeDocument/2006/relationships/chart" Target="../charts/chart2.xml"/><Relationship Id="rId5" Type="http://schemas.openxmlformats.org/officeDocument/2006/relationships/image" Target="../media/image6.org&amp;utm_campaign=index&amp;utm_content=thumbnail&amp;_=20050426133955"/><Relationship Id="rId6" Type="http://schemas.openxmlformats.org/officeDocument/2006/relationships/image" Target="../media/image7.org&amp;utm_campaign=index&amp;utm_content=thumbnail&amp;_=20190626134131"/><Relationship Id="rId7" Type="http://schemas.openxmlformats.org/officeDocument/2006/relationships/image" Target="../media/image8.org&amp;utm_campaign=index&amp;utm_content=thumbnail&amp;_=20200720021817"/></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200000" y="144000"/>
            <a:ext cx="3204000" cy="288000"/>
          </a:xfrm>
          <a:prstGeom prst="rect">
            <a:avLst/>
          </a:prstGeom>
          <a:noFill/>
        </p:spPr>
        <p:txBody>
          <a:bodyPr wrap="square" lIns="54000" tIns="54000" rIns="54000" bIns="54000" anchor="t">
            <a:spAutoFit/>
          </a:bodyPr>
          <a:lstStyle/>
          <a:p>
            <a:pPr algn="r"/>
            <a:r>
              <a:rPr sz="700" b="0" i="0" u="none">
                <a:solidFill>
                  <a:srgbClr val="888888"/>
                </a:solidFill>
                <a:latin typeface="Aptos"/>
              </a:rPr>
              <a:t>Slide kit · Teaching That Lands · CC BY 4.0 · fabricated, not a real policy</a:t>
            </a:r>
          </a:p>
        </p:txBody>
      </p:sp>
      <p:sp>
        <p:nvSpPr>
          <p:cNvPr id="4" name="Rectangle 3"/>
          <p:cNvSpPr/>
          <p:nvPr/>
        </p:nvSpPr>
        <p:spPr>
          <a:xfrm>
            <a:off x="1008000" y="576000"/>
            <a:ext cx="8640000" cy="4860000"/>
          </a:xfrm>
          <a:prstGeom prst="rect">
            <a:avLst/>
          </a:prstGeom>
          <a:solidFill>
            <a:srgbClr val="FFFFFF"/>
          </a:solidFill>
          <a:ln w="2857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8000" y="5580000"/>
            <a:ext cx="2880000" cy="252000"/>
          </a:xfrm>
          <a:prstGeom prst="rect">
            <a:avLst/>
          </a:prstGeom>
          <a:noFill/>
        </p:spPr>
        <p:txBody>
          <a:bodyPr wrap="square" lIns="54000" tIns="54000" rIns="54000" bIns="54000" anchor="t">
            <a:spAutoFit/>
          </a:bodyPr>
          <a:lstStyle/>
          <a:p>
            <a:pPr algn="l"/>
            <a:r>
              <a:rPr sz="1100" b="1" i="0" u="none">
                <a:solidFill>
                  <a:srgbClr val="333333"/>
                </a:solidFill>
                <a:latin typeface="Aptos"/>
              </a:rPr>
              <a:t>Speaker notes</a:t>
            </a:r>
          </a:p>
        </p:txBody>
      </p:sp>
      <p:sp>
        <p:nvSpPr>
          <p:cNvPr id="8" name="Rectangle 7"/>
          <p:cNvSpPr/>
          <p:nvPr/>
        </p:nvSpPr>
        <p:spPr>
          <a:xfrm>
            <a:off x="1008000" y="5832000"/>
            <a:ext cx="8640000" cy="1296000"/>
          </a:xfrm>
          <a:prstGeom prst="rect">
            <a:avLst/>
          </a:prstGeom>
          <a:noFill/>
          <a:ln w="12700">
            <a:solidFill>
              <a:srgbClr val="8888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 name="Connector 8"/>
          <p:cNvCxnSpPr/>
          <p:nvPr/>
        </p:nvCxnSpPr>
        <p:spPr>
          <a:xfrm>
            <a:off x="1152000" y="6091200"/>
            <a:ext cx="8352000" cy="0"/>
          </a:xfrm>
          <a:prstGeom prst="line">
            <a:avLst/>
          </a:prstGeom>
          <a:ln w="6350">
            <a:solidFill>
              <a:srgbClr val="CCCCCC"/>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52000" y="6350400"/>
            <a:ext cx="8352000" cy="0"/>
          </a:xfrm>
          <a:prstGeom prst="line">
            <a:avLst/>
          </a:prstGeom>
          <a:ln w="6350">
            <a:solidFill>
              <a:srgbClr val="CCCCCC"/>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152000" y="6609600"/>
            <a:ext cx="8352000" cy="0"/>
          </a:xfrm>
          <a:prstGeom prst="line">
            <a:avLst/>
          </a:prstGeom>
          <a:ln w="6350">
            <a:solidFill>
              <a:srgbClr val="CCCCCC"/>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152000" y="6868800"/>
            <a:ext cx="8352000" cy="0"/>
          </a:xfrm>
          <a:prstGeom prst="line">
            <a:avLst/>
          </a:prstGeom>
          <a:ln w="6350">
            <a:solidFill>
              <a:srgbClr val="CCCCCC"/>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200000" y="144000"/>
            <a:ext cx="3204000" cy="288000"/>
          </a:xfrm>
          <a:prstGeom prst="rect">
            <a:avLst/>
          </a:prstGeom>
          <a:noFill/>
        </p:spPr>
        <p:txBody>
          <a:bodyPr wrap="square" lIns="54000" tIns="54000" rIns="54000" bIns="54000" anchor="t">
            <a:spAutoFit/>
          </a:bodyPr>
          <a:lstStyle/>
          <a:p>
            <a:pPr algn="r"/>
            <a:r>
              <a:rPr sz="700" b="0" i="0" u="none">
                <a:solidFill>
                  <a:srgbClr val="888888"/>
                </a:solidFill>
                <a:latin typeface="Aptos"/>
              </a:rPr>
              <a:t>Slide kit · Teaching That Lands · CC BY 4.0 · fabricated, not a real policy</a:t>
            </a:r>
          </a:p>
        </p:txBody>
      </p:sp>
      <p:sp>
        <p:nvSpPr>
          <p:cNvPr id="4" name="Rectangle 3"/>
          <p:cNvSpPr/>
          <p:nvPr/>
        </p:nvSpPr>
        <p:spPr>
          <a:xfrm>
            <a:off x="288000" y="504000"/>
            <a:ext cx="4860000" cy="648000"/>
          </a:xfrm>
          <a:prstGeom prst="rect">
            <a:avLst/>
          </a:prstGeom>
          <a:noFill/>
          <a:ln w="9525">
            <a:solidFill>
              <a:srgbClr val="999999"/>
            </a:solidFill>
            <a:prstDash val="dash"/>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l"/>
            <a:r>
              <a:rPr sz="1200" b="0" i="0" u="none">
                <a:solidFill>
                  <a:srgbClr val="333333"/>
                </a:solidFill>
                <a:latin typeface="Arial Black"/>
              </a:rPr>
              <a:t>FALLS PREVENTION UPDATE</a:t>
            </a:r>
            <a:r>
              <a:rPr sz="1200" b="1" i="0" u="none">
                <a:solidFill>
                  <a:srgbClr val="CC0000"/>
                </a:solidFill>
                <a:latin typeface="Times New Roman"/>
              </a:rPr>
              <a:t> – Key Points For ALL Staff (v3.2 FINAL_final) </a:t>
            </a:r>
            <a:r>
              <a:rPr sz="1200" b="0" i="0" u="sng">
                <a:solidFill>
                  <a:srgbClr val="CC00CC"/>
                </a:solidFill>
                <a:latin typeface="Comic Sans MS"/>
              </a:rPr>
              <a:t>*** PLEASE READ ***</a:t>
            </a:r>
          </a:p>
        </p:txBody>
      </p:sp>
      <p:sp>
        <p:nvSpPr>
          <p:cNvPr id="5" name="Rectangle 4"/>
          <p:cNvSpPr/>
          <p:nvPr/>
        </p:nvSpPr>
        <p:spPr>
          <a:xfrm>
            <a:off x="5292000" y="504000"/>
            <a:ext cx="5112000" cy="648000"/>
          </a:xfrm>
          <a:prstGeom prst="rect">
            <a:avLst/>
          </a:prstGeom>
          <a:noFill/>
          <a:ln w="9525">
            <a:solidFill>
              <a:srgbClr val="999999"/>
            </a:solidFill>
            <a:prstDash val="dash"/>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l"/>
            <a:r>
              <a:rPr sz="1600" b="1" i="0" u="none" dirty="0">
                <a:solidFill>
                  <a:srgbClr val="333333"/>
                </a:solidFill>
                <a:latin typeface="Calibri"/>
              </a:rPr>
              <a:t>Falls Prevention:</a:t>
            </a:r>
            <a:r>
              <a:rPr sz="1600" b="0" i="0" u="none" dirty="0">
                <a:solidFill>
                  <a:srgbClr val="333333"/>
                </a:solidFill>
                <a:latin typeface="Calibri"/>
              </a:rPr>
              <a:t> Updated Guidance for Inpatient Areas Following </a:t>
            </a:r>
            <a:r>
              <a:rPr sz="1600" b="1" i="0" u="none" dirty="0">
                <a:solidFill>
                  <a:srgbClr val="333333"/>
                </a:solidFill>
                <a:latin typeface="Calibri"/>
              </a:rPr>
              <a:t>Review of Incidents </a:t>
            </a:r>
            <a:r>
              <a:rPr sz="1600" b="0" i="0" u="none" dirty="0">
                <a:solidFill>
                  <a:srgbClr val="333333"/>
                </a:solidFill>
                <a:latin typeface="Calibri"/>
              </a:rPr>
              <a:t>in Q3</a:t>
            </a:r>
          </a:p>
        </p:txBody>
      </p:sp>
      <p:sp>
        <p:nvSpPr>
          <p:cNvPr id="6" name="Rectangle 5"/>
          <p:cNvSpPr/>
          <p:nvPr/>
        </p:nvSpPr>
        <p:spPr>
          <a:xfrm>
            <a:off x="288000" y="1260000"/>
            <a:ext cx="3420000" cy="936000"/>
          </a:xfrm>
          <a:prstGeom prst="rect">
            <a:avLst/>
          </a:prstGeom>
          <a:noFill/>
          <a:ln w="9525">
            <a:solidFill>
              <a:srgbClr val="999999"/>
            </a:solidFill>
            <a:prstDash val="dash"/>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l"/>
            <a:r>
              <a:rPr sz="2400" b="0" i="0" u="none" dirty="0">
                <a:solidFill>
                  <a:srgbClr val="333333"/>
                </a:solidFill>
                <a:latin typeface="Calibri"/>
              </a:rPr>
              <a:t>Falls prevention update</a:t>
            </a:r>
          </a:p>
        </p:txBody>
      </p:sp>
      <p:sp>
        <p:nvSpPr>
          <p:cNvPr id="7" name="Rectangle 6"/>
          <p:cNvSpPr/>
          <p:nvPr/>
        </p:nvSpPr>
        <p:spPr>
          <a:xfrm>
            <a:off x="3816000" y="1260000"/>
            <a:ext cx="6587812" cy="936000"/>
          </a:xfrm>
          <a:prstGeom prst="rect">
            <a:avLst/>
          </a:prstGeom>
          <a:noFill/>
          <a:ln w="9525">
            <a:solidFill>
              <a:srgbClr val="999999"/>
            </a:solidFill>
            <a:prstDash val="dash"/>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ctr"/>
            <a:r>
              <a:rPr sz="3000" b="1" i="0" u="none" dirty="0">
                <a:solidFill>
                  <a:srgbClr val="333333"/>
                </a:solidFill>
                <a:latin typeface="Georgia"/>
              </a:rPr>
              <a:t>Before you leave the bedside</a:t>
            </a:r>
          </a:p>
        </p:txBody>
      </p:sp>
      <p:sp>
        <p:nvSpPr>
          <p:cNvPr id="8" name="Rectangle 7"/>
          <p:cNvSpPr/>
          <p:nvPr/>
        </p:nvSpPr>
        <p:spPr>
          <a:xfrm>
            <a:off x="6767626" y="5544000"/>
            <a:ext cx="3636186" cy="648000"/>
          </a:xfrm>
          <a:prstGeom prst="rect">
            <a:avLst/>
          </a:prstGeom>
          <a:noFill/>
          <a:ln w="9525">
            <a:solidFill>
              <a:srgbClr val="999999"/>
            </a:solidFill>
            <a:prstDash val="dash"/>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ctr"/>
            <a:r>
              <a:rPr sz="3600" b="1" i="0" u="none" dirty="0">
                <a:solidFill>
                  <a:srgbClr val="333333"/>
                </a:solidFill>
                <a:latin typeface="Georgia"/>
              </a:rPr>
              <a:t>Four checks</a:t>
            </a:r>
          </a:p>
        </p:txBody>
      </p:sp>
      <p:sp>
        <p:nvSpPr>
          <p:cNvPr id="9" name="Rectangle 8"/>
          <p:cNvSpPr/>
          <p:nvPr/>
        </p:nvSpPr>
        <p:spPr>
          <a:xfrm>
            <a:off x="6195291" y="2304000"/>
            <a:ext cx="4208521" cy="3024000"/>
          </a:xfrm>
          <a:prstGeom prst="rect">
            <a:avLst/>
          </a:prstGeom>
          <a:noFill/>
          <a:ln w="9525">
            <a:solidFill>
              <a:srgbClr val="999999"/>
            </a:solidFill>
            <a:prstDash val="dash"/>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t"/>
          <a:lstStyle/>
          <a:p>
            <a:pPr algn="l"/>
            <a:r>
              <a:rPr sz="1100" b="0" i="0" u="none">
                <a:solidFill>
                  <a:srgbClr val="333333"/>
                </a:solidFill>
                <a:latin typeface="Times New Roman"/>
              </a:rPr>
              <a:t>Following a review of inpatient falls incidents and in line with the updated local policy (FP-03 v3.2, see Appendix F section 4.2.1), all clinical staff are reminded that before leaving any patient who has been assessed as being at risk of falls, they should ensure that the bed has been returned to its lowest height setting (unless clinically contraindicated, in which case the reason should be documented), that the call bell is placed within the patient's reach and that they know how to use it, that the patient is wearing well-fitting non-slip footwear or has it readily available, and that the immediate floor area has been checked and cleared of trip hazards such as cables, spills, equipment and clutter. Compliance with this will be audited monthly.</a:t>
            </a:r>
          </a:p>
        </p:txBody>
      </p:sp>
      <p:sp>
        <p:nvSpPr>
          <p:cNvPr id="10" name="Rectangle 9"/>
          <p:cNvSpPr/>
          <p:nvPr/>
        </p:nvSpPr>
        <p:spPr>
          <a:xfrm>
            <a:off x="324000" y="2304000"/>
            <a:ext cx="3384000" cy="3024000"/>
          </a:xfrm>
          <a:prstGeom prst="rect">
            <a:avLst/>
          </a:prstGeom>
          <a:noFill/>
          <a:ln w="9525">
            <a:solidFill>
              <a:srgbClr val="999999"/>
            </a:solidFill>
            <a:prstDash val="dash"/>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t"/>
          <a:lstStyle/>
          <a:p>
            <a:pPr algn="l"/>
            <a:r>
              <a:rPr sz="1400" b="0" i="0" u="none">
                <a:solidFill>
                  <a:srgbClr val="333333"/>
                </a:solidFill>
                <a:latin typeface="Calibri"/>
              </a:rPr>
              <a:t>• Ensure the bed is returned to its lowest height setting unless clinically contraindicated (document the reason)</a:t>
            </a:r>
          </a:p>
          <a:p>
            <a:pPr algn="l"/>
            <a:r>
              <a:rPr sz="1400" b="0" i="0" u="none">
                <a:solidFill>
                  <a:srgbClr val="333333"/>
                </a:solidFill>
                <a:latin typeface="Calibri"/>
              </a:rPr>
              <a:t>• Place the call bell within the patient's reach and check they know how to use it</a:t>
            </a:r>
          </a:p>
          <a:p>
            <a:pPr algn="l"/>
            <a:r>
              <a:rPr sz="1400" b="0" i="0" u="none">
                <a:solidFill>
                  <a:srgbClr val="333333"/>
                </a:solidFill>
                <a:latin typeface="Calibri"/>
              </a:rPr>
              <a:t>• Ensure the patient has well-fitting non-slip footwear on or readily available</a:t>
            </a:r>
          </a:p>
          <a:p>
            <a:pPr algn="l"/>
            <a:r>
              <a:rPr sz="1400" b="0" i="0" u="none">
                <a:solidFill>
                  <a:srgbClr val="333333"/>
                </a:solidFill>
                <a:latin typeface="Calibri"/>
              </a:rPr>
              <a:t>• Check and clear the floor area of trip hazards (cables, spills, equipment, clutter)</a:t>
            </a:r>
          </a:p>
          <a:p>
            <a:pPr algn="l"/>
            <a:r>
              <a:rPr sz="1400" b="0" i="0" u="none">
                <a:solidFill>
                  <a:srgbClr val="333333"/>
                </a:solidFill>
                <a:latin typeface="Calibri"/>
              </a:rPr>
              <a:t>• Compliance will be audited monthly</a:t>
            </a:r>
          </a:p>
        </p:txBody>
      </p:sp>
      <p:sp>
        <p:nvSpPr>
          <p:cNvPr id="11" name="Rectangle 10"/>
          <p:cNvSpPr/>
          <p:nvPr/>
        </p:nvSpPr>
        <p:spPr>
          <a:xfrm>
            <a:off x="288000" y="5544000"/>
            <a:ext cx="2947570" cy="648000"/>
          </a:xfrm>
          <a:prstGeom prst="rect">
            <a:avLst/>
          </a:prstGeom>
          <a:noFill/>
          <a:ln w="9525">
            <a:solidFill>
              <a:srgbClr val="999999"/>
            </a:solidFill>
            <a:prstDash val="dash"/>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l"/>
            <a:r>
              <a:rPr sz="2400" b="0" i="1" u="none" dirty="0">
                <a:solidFill>
                  <a:srgbClr val="333333"/>
                </a:solidFill>
                <a:latin typeface="Georgia"/>
              </a:rPr>
              <a:t>What do you </a:t>
            </a:r>
            <a:r>
              <a:rPr sz="2400" b="1" i="1" u="none" dirty="0">
                <a:solidFill>
                  <a:srgbClr val="333333"/>
                </a:solidFill>
                <a:latin typeface="Georgia"/>
              </a:rPr>
              <a:t>check</a:t>
            </a:r>
            <a:r>
              <a:rPr sz="2400" b="0" i="1" u="none" dirty="0">
                <a:solidFill>
                  <a:srgbClr val="333333"/>
                </a:solidFill>
                <a:latin typeface="Georgia"/>
              </a:rPr>
              <a:t> before you leave?</a:t>
            </a:r>
          </a:p>
        </p:txBody>
      </p:sp>
      <p:sp>
        <p:nvSpPr>
          <p:cNvPr id="12" name="Rectangle 11"/>
          <p:cNvSpPr/>
          <p:nvPr/>
        </p:nvSpPr>
        <p:spPr>
          <a:xfrm>
            <a:off x="3399692" y="5548431"/>
            <a:ext cx="3203812" cy="648000"/>
          </a:xfrm>
          <a:prstGeom prst="rect">
            <a:avLst/>
          </a:prstGeom>
          <a:noFill/>
          <a:ln w="9525">
            <a:solidFill>
              <a:srgbClr val="999999"/>
            </a:solidFill>
            <a:prstDash val="dash"/>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l"/>
            <a:r>
              <a:rPr sz="2400" b="0" i="1" u="none" dirty="0">
                <a:solidFill>
                  <a:srgbClr val="333333"/>
                </a:solidFill>
                <a:latin typeface="Georgia"/>
              </a:rPr>
              <a:t>Would you leave your </a:t>
            </a:r>
            <a:r>
              <a:rPr sz="2400" b="1" i="1" u="none" dirty="0">
                <a:solidFill>
                  <a:srgbClr val="333333"/>
                </a:solidFill>
                <a:latin typeface="Georgia"/>
              </a:rPr>
              <a:t>mum</a:t>
            </a:r>
            <a:r>
              <a:rPr sz="2400" b="0" i="1" u="none" dirty="0">
                <a:solidFill>
                  <a:srgbClr val="333333"/>
                </a:solidFill>
                <a:latin typeface="Georgia"/>
              </a:rPr>
              <a:t> like this?</a:t>
            </a:r>
          </a:p>
        </p:txBody>
      </p:sp>
      <p:pic>
        <p:nvPicPr>
          <p:cNvPr id="14" name="Picture 13" descr="File:Oxigenoterapia para COVID-19 - São Borja 23-04-2021.jpg">
            <a:extLst>
              <a:ext uri="{FF2B5EF4-FFF2-40B4-BE49-F238E27FC236}">
                <a16:creationId xmlns:a16="http://schemas.microsoft.com/office/drawing/2014/main" id="{4654E340-33A0-5FFD-9914-2AC43DC0CC56}"/>
              </a:ext>
            </a:extLst>
          </p:cNvPr>
          <p:cNvPicPr>
            <a:picLocks noChangeAspect="1"/>
          </p:cNvPicPr>
          <p:nvPr/>
        </p:nvPicPr>
        <p:blipFill>
          <a:blip r:embed="rId3"/>
          <a:stretch>
            <a:fillRect/>
          </a:stretch>
        </p:blipFill>
        <p:spPr>
          <a:xfrm>
            <a:off x="3816000" y="2304000"/>
            <a:ext cx="2271291" cy="3025360"/>
          </a:xfrm>
          <a:prstGeom prst="rect">
            <a:avLst/>
          </a:prstGeom>
        </p:spPr>
      </p:pic>
      <p:sp>
        <p:nvSpPr>
          <p:cNvPr id="15" name="Rectangle 14"/>
          <p:cNvSpPr/>
          <p:nvPr/>
        </p:nvSpPr>
        <p:spPr>
          <a:xfrm>
            <a:off x="288000" y="6336000"/>
            <a:ext cx="3312000" cy="936000"/>
          </a:xfrm>
          <a:prstGeom prst="rect">
            <a:avLst/>
          </a:prstGeom>
          <a:noFill/>
          <a:ln w="9525">
            <a:solidFill>
              <a:srgbClr val="999999"/>
            </a:solidFill>
            <a:prstDash val="dash"/>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ctr"/>
            <a:r>
              <a:rPr sz="2200" b="1" i="0" u="none">
                <a:solidFill>
                  <a:srgbClr val="333333"/>
                </a:solidFill>
                <a:latin typeface="Georgia"/>
              </a:rPr>
              <a:t>Falls: a whole-team approach</a:t>
            </a:r>
          </a:p>
        </p:txBody>
      </p:sp>
      <p:sp>
        <p:nvSpPr>
          <p:cNvPr id="16" name="Rectangle 15"/>
          <p:cNvSpPr/>
          <p:nvPr/>
        </p:nvSpPr>
        <p:spPr>
          <a:xfrm>
            <a:off x="3708000" y="6336000"/>
            <a:ext cx="3312000" cy="936000"/>
          </a:xfrm>
          <a:prstGeom prst="rect">
            <a:avLst/>
          </a:prstGeom>
          <a:noFill/>
          <a:ln w="9525">
            <a:solidFill>
              <a:srgbClr val="999999"/>
            </a:solidFill>
            <a:prstDash val="dash"/>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ctr"/>
            <a:r>
              <a:rPr sz="2000" b="0" i="1" u="none">
                <a:solidFill>
                  <a:srgbClr val="333333"/>
                </a:solidFill>
                <a:latin typeface="Georgia"/>
              </a:rPr>
              <a:t>Could you prevent the next fall?</a:t>
            </a:r>
          </a:p>
        </p:txBody>
      </p:sp>
      <p:sp>
        <p:nvSpPr>
          <p:cNvPr id="17" name="Rectangle 16"/>
          <p:cNvSpPr/>
          <p:nvPr/>
        </p:nvSpPr>
        <p:spPr>
          <a:xfrm>
            <a:off x="7128000" y="6336000"/>
            <a:ext cx="3276000" cy="936000"/>
          </a:xfrm>
          <a:prstGeom prst="rect">
            <a:avLst/>
          </a:prstGeom>
          <a:noFill/>
          <a:ln w="9525">
            <a:solidFill>
              <a:srgbClr val="999999"/>
            </a:solidFill>
            <a:prstDash val="dash"/>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ctr"/>
            <a:r>
              <a:rPr sz="2600" b="0" i="0" u="none">
                <a:solidFill>
                  <a:srgbClr val="CC0000"/>
                </a:solidFill>
                <a:latin typeface="Arial Black"/>
              </a:rPr>
              <a:t>FOUR CHECKS!!!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200000" y="144000"/>
            <a:ext cx="3204000" cy="288000"/>
          </a:xfrm>
          <a:prstGeom prst="rect">
            <a:avLst/>
          </a:prstGeom>
          <a:noFill/>
        </p:spPr>
        <p:txBody>
          <a:bodyPr wrap="square" lIns="54000" tIns="54000" rIns="54000" bIns="54000" anchor="t">
            <a:spAutoFit/>
          </a:bodyPr>
          <a:lstStyle/>
          <a:p>
            <a:pPr algn="r"/>
            <a:r>
              <a:rPr sz="700" b="0" i="0" u="none">
                <a:solidFill>
                  <a:srgbClr val="888888"/>
                </a:solidFill>
                <a:latin typeface="Aptos"/>
              </a:rPr>
              <a:t>Slide kit · Teaching That Lands · CC BY 4.0 · fabricated, not a real policy</a:t>
            </a:r>
          </a:p>
        </p:txBody>
      </p:sp>
      <p:sp>
        <p:nvSpPr>
          <p:cNvPr id="4" name="Rectangle 3"/>
          <p:cNvSpPr/>
          <p:nvPr/>
        </p:nvSpPr>
        <p:spPr>
          <a:xfrm>
            <a:off x="288000" y="504000"/>
            <a:ext cx="5004000" cy="540000"/>
          </a:xfrm>
          <a:prstGeom prst="rect">
            <a:avLst/>
          </a:prstGeom>
          <a:noFill/>
          <a:ln w="9525">
            <a:solidFill>
              <a:srgbClr val="999999"/>
            </a:solidFill>
            <a:prstDash val="dash"/>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l"/>
            <a:r>
              <a:rPr sz="2400" b="0" i="0" u="none">
                <a:solidFill>
                  <a:srgbClr val="333333"/>
                </a:solidFill>
                <a:latin typeface="Aptos"/>
              </a:rPr>
              <a:t>Bed at lowest height</a:t>
            </a:r>
          </a:p>
        </p:txBody>
      </p:sp>
      <p:sp>
        <p:nvSpPr>
          <p:cNvPr id="5" name="Rectangle 4"/>
          <p:cNvSpPr/>
          <p:nvPr/>
        </p:nvSpPr>
        <p:spPr>
          <a:xfrm>
            <a:off x="5400000" y="504000"/>
            <a:ext cx="5004000" cy="540000"/>
          </a:xfrm>
          <a:prstGeom prst="rect">
            <a:avLst/>
          </a:prstGeom>
          <a:noFill/>
          <a:ln w="9525">
            <a:solidFill>
              <a:srgbClr val="999999"/>
            </a:solidFill>
            <a:prstDash val="dash"/>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l"/>
            <a:r>
              <a:rPr sz="2400" b="0" i="0" u="none">
                <a:solidFill>
                  <a:srgbClr val="333333"/>
                </a:solidFill>
                <a:latin typeface="Aptos"/>
              </a:rPr>
              <a:t>Call bell within reach</a:t>
            </a:r>
          </a:p>
        </p:txBody>
      </p:sp>
      <p:sp>
        <p:nvSpPr>
          <p:cNvPr id="6" name="Rectangle 5"/>
          <p:cNvSpPr/>
          <p:nvPr/>
        </p:nvSpPr>
        <p:spPr>
          <a:xfrm>
            <a:off x="288000" y="1152000"/>
            <a:ext cx="5004000" cy="540000"/>
          </a:xfrm>
          <a:prstGeom prst="rect">
            <a:avLst/>
          </a:prstGeom>
          <a:noFill/>
          <a:ln w="9525">
            <a:solidFill>
              <a:srgbClr val="999999"/>
            </a:solidFill>
            <a:prstDash val="dash"/>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l"/>
            <a:r>
              <a:rPr sz="2400" b="0" i="0" u="none">
                <a:solidFill>
                  <a:srgbClr val="333333"/>
                </a:solidFill>
                <a:latin typeface="Aptos"/>
              </a:rPr>
              <a:t>Non-slip footwear on</a:t>
            </a:r>
          </a:p>
        </p:txBody>
      </p:sp>
      <p:sp>
        <p:nvSpPr>
          <p:cNvPr id="7" name="Rectangle 6"/>
          <p:cNvSpPr/>
          <p:nvPr/>
        </p:nvSpPr>
        <p:spPr>
          <a:xfrm>
            <a:off x="5400000" y="1152000"/>
            <a:ext cx="5004000" cy="540000"/>
          </a:xfrm>
          <a:prstGeom prst="rect">
            <a:avLst/>
          </a:prstGeom>
          <a:noFill/>
          <a:ln w="9525">
            <a:solidFill>
              <a:srgbClr val="999999"/>
            </a:solidFill>
            <a:prstDash val="dash"/>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l"/>
            <a:r>
              <a:rPr sz="2400" b="0" i="0" u="none">
                <a:solidFill>
                  <a:srgbClr val="333333"/>
                </a:solidFill>
                <a:latin typeface="Aptos"/>
              </a:rPr>
              <a:t>Floor clear of trip hazards</a:t>
            </a:r>
          </a:p>
        </p:txBody>
      </p:sp>
      <p:sp>
        <p:nvSpPr>
          <p:cNvPr id="8" name="Rectangle 7"/>
          <p:cNvSpPr/>
          <p:nvPr/>
        </p:nvSpPr>
        <p:spPr>
          <a:xfrm>
            <a:off x="288000" y="1872000"/>
            <a:ext cx="5004000" cy="756000"/>
          </a:xfrm>
          <a:prstGeom prst="rect">
            <a:avLst/>
          </a:prstGeom>
          <a:noFill/>
          <a:ln w="9525">
            <a:solidFill>
              <a:srgbClr val="999999"/>
            </a:solidFill>
            <a:prstDash val="dash"/>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ctr"/>
            <a:r>
              <a:rPr sz="4000" b="1" i="0" u="none">
                <a:solidFill>
                  <a:srgbClr val="333333"/>
                </a:solidFill>
                <a:latin typeface="Aptos"/>
              </a:rPr>
              <a:t>Bed low</a:t>
            </a:r>
          </a:p>
        </p:txBody>
      </p:sp>
      <p:sp>
        <p:nvSpPr>
          <p:cNvPr id="9" name="Rectangle 8"/>
          <p:cNvSpPr/>
          <p:nvPr/>
        </p:nvSpPr>
        <p:spPr>
          <a:xfrm>
            <a:off x="5400000" y="1872000"/>
            <a:ext cx="5004000" cy="756000"/>
          </a:xfrm>
          <a:prstGeom prst="rect">
            <a:avLst/>
          </a:prstGeom>
          <a:noFill/>
          <a:ln w="9525">
            <a:solidFill>
              <a:srgbClr val="999999"/>
            </a:solidFill>
            <a:prstDash val="dash"/>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ctr"/>
            <a:r>
              <a:rPr sz="4000" b="1" i="0" u="none">
                <a:solidFill>
                  <a:srgbClr val="333333"/>
                </a:solidFill>
                <a:latin typeface="Aptos"/>
              </a:rPr>
              <a:t>Bell in reach</a:t>
            </a:r>
          </a:p>
        </p:txBody>
      </p:sp>
      <p:sp>
        <p:nvSpPr>
          <p:cNvPr id="10" name="Rectangle 9"/>
          <p:cNvSpPr/>
          <p:nvPr/>
        </p:nvSpPr>
        <p:spPr>
          <a:xfrm>
            <a:off x="288000" y="2736000"/>
            <a:ext cx="5004000" cy="756000"/>
          </a:xfrm>
          <a:prstGeom prst="rect">
            <a:avLst/>
          </a:prstGeom>
          <a:noFill/>
          <a:ln w="9525">
            <a:solidFill>
              <a:srgbClr val="999999"/>
            </a:solidFill>
            <a:prstDash val="dash"/>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ctr"/>
            <a:r>
              <a:rPr sz="4000" b="1" i="0" u="none">
                <a:solidFill>
                  <a:srgbClr val="333333"/>
                </a:solidFill>
                <a:latin typeface="Aptos"/>
              </a:rPr>
              <a:t>Footwear on</a:t>
            </a:r>
          </a:p>
        </p:txBody>
      </p:sp>
      <p:sp>
        <p:nvSpPr>
          <p:cNvPr id="11" name="Rectangle 10"/>
          <p:cNvSpPr/>
          <p:nvPr/>
        </p:nvSpPr>
        <p:spPr>
          <a:xfrm>
            <a:off x="5400000" y="2736000"/>
            <a:ext cx="5004000" cy="756000"/>
          </a:xfrm>
          <a:prstGeom prst="rect">
            <a:avLst/>
          </a:prstGeom>
          <a:noFill/>
          <a:ln w="9525">
            <a:solidFill>
              <a:srgbClr val="999999"/>
            </a:solidFill>
            <a:prstDash val="dash"/>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ctr"/>
            <a:r>
              <a:rPr sz="4000" b="1" i="0" u="none">
                <a:solidFill>
                  <a:srgbClr val="333333"/>
                </a:solidFill>
                <a:latin typeface="Aptos"/>
              </a:rPr>
              <a:t>Floor clear</a:t>
            </a:r>
          </a:p>
        </p:txBody>
      </p:sp>
      <p:sp>
        <p:nvSpPr>
          <p:cNvPr id="12" name="Rectangle 11"/>
          <p:cNvSpPr/>
          <p:nvPr/>
        </p:nvSpPr>
        <p:spPr>
          <a:xfrm>
            <a:off x="288000" y="3605006"/>
            <a:ext cx="792000" cy="720000"/>
          </a:xfrm>
          <a:prstGeom prst="rect">
            <a:avLst/>
          </a:prstGeom>
          <a:noFill/>
          <a:ln w="9525">
            <a:solidFill>
              <a:srgbClr val="999999"/>
            </a:solidFill>
            <a:prstDash val="dash"/>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ctr"/>
            <a:r>
              <a:rPr sz="1200" b="1" i="0" u="none">
                <a:solidFill>
                  <a:srgbClr val="333333"/>
                </a:solidFill>
                <a:latin typeface="Aptos"/>
              </a:rPr>
              <a:t>Bed low</a:t>
            </a:r>
          </a:p>
        </p:txBody>
      </p:sp>
      <p:sp>
        <p:nvSpPr>
          <p:cNvPr id="13" name="Rectangle 12"/>
          <p:cNvSpPr/>
          <p:nvPr/>
        </p:nvSpPr>
        <p:spPr>
          <a:xfrm>
            <a:off x="1188000" y="3605006"/>
            <a:ext cx="1152000" cy="720000"/>
          </a:xfrm>
          <a:prstGeom prst="rect">
            <a:avLst/>
          </a:prstGeom>
          <a:noFill/>
          <a:ln w="9525">
            <a:solidFill>
              <a:srgbClr val="999999"/>
            </a:solidFill>
            <a:prstDash val="dash"/>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ctr"/>
            <a:r>
              <a:rPr sz="1800" b="1" i="0" u="none">
                <a:solidFill>
                  <a:srgbClr val="333333"/>
                </a:solidFill>
                <a:latin typeface="Aptos"/>
              </a:rPr>
              <a:t>Bed low</a:t>
            </a:r>
          </a:p>
        </p:txBody>
      </p:sp>
      <p:sp>
        <p:nvSpPr>
          <p:cNvPr id="14" name="Rectangle 13"/>
          <p:cNvSpPr/>
          <p:nvPr/>
        </p:nvSpPr>
        <p:spPr>
          <a:xfrm>
            <a:off x="2448000" y="3605006"/>
            <a:ext cx="1512000" cy="720000"/>
          </a:xfrm>
          <a:prstGeom prst="rect">
            <a:avLst/>
          </a:prstGeom>
          <a:noFill/>
          <a:ln w="9525">
            <a:solidFill>
              <a:srgbClr val="999999"/>
            </a:solidFill>
            <a:prstDash val="dash"/>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ctr"/>
            <a:r>
              <a:rPr sz="2400" b="1" i="0" u="none">
                <a:solidFill>
                  <a:srgbClr val="333333"/>
                </a:solidFill>
                <a:latin typeface="Aptos"/>
              </a:rPr>
              <a:t>Bed low</a:t>
            </a:r>
          </a:p>
        </p:txBody>
      </p:sp>
      <p:sp>
        <p:nvSpPr>
          <p:cNvPr id="15" name="Rectangle 14"/>
          <p:cNvSpPr/>
          <p:nvPr/>
        </p:nvSpPr>
        <p:spPr>
          <a:xfrm>
            <a:off x="4068000" y="3605006"/>
            <a:ext cx="2016000" cy="720000"/>
          </a:xfrm>
          <a:prstGeom prst="rect">
            <a:avLst/>
          </a:prstGeom>
          <a:noFill/>
          <a:ln w="9525">
            <a:solidFill>
              <a:srgbClr val="999999"/>
            </a:solidFill>
            <a:prstDash val="dash"/>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ctr"/>
            <a:r>
              <a:rPr sz="3200" b="1" i="0" u="none">
                <a:solidFill>
                  <a:srgbClr val="333333"/>
                </a:solidFill>
                <a:latin typeface="Aptos"/>
              </a:rPr>
              <a:t>Bed low</a:t>
            </a:r>
          </a:p>
        </p:txBody>
      </p:sp>
      <p:sp>
        <p:nvSpPr>
          <p:cNvPr id="16" name="Rectangle 15"/>
          <p:cNvSpPr/>
          <p:nvPr/>
        </p:nvSpPr>
        <p:spPr>
          <a:xfrm>
            <a:off x="6192000" y="3605006"/>
            <a:ext cx="2592000" cy="720000"/>
          </a:xfrm>
          <a:prstGeom prst="rect">
            <a:avLst/>
          </a:prstGeom>
          <a:noFill/>
          <a:ln w="9525">
            <a:solidFill>
              <a:srgbClr val="999999"/>
            </a:solidFill>
            <a:prstDash val="dash"/>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ctr"/>
            <a:r>
              <a:rPr sz="4000" b="1" i="0" u="none">
                <a:solidFill>
                  <a:srgbClr val="333333"/>
                </a:solidFill>
                <a:latin typeface="Aptos"/>
              </a:rPr>
              <a:t>Bed low</a:t>
            </a:r>
          </a:p>
        </p:txBody>
      </p:sp>
      <p:sp>
        <p:nvSpPr>
          <p:cNvPr id="18" name="Rectangle 17"/>
          <p:cNvSpPr/>
          <p:nvPr/>
        </p:nvSpPr>
        <p:spPr>
          <a:xfrm>
            <a:off x="288000" y="4438012"/>
            <a:ext cx="10116000" cy="936000"/>
          </a:xfrm>
          <a:prstGeom prst="rect">
            <a:avLst/>
          </a:prstGeom>
          <a:noFill/>
          <a:ln w="9525">
            <a:solidFill>
              <a:srgbClr val="999999"/>
            </a:solidFill>
            <a:prstDash val="dash"/>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ctr"/>
            <a:r>
              <a:rPr sz="3200" b="1" i="0" u="none">
                <a:solidFill>
                  <a:srgbClr val="333333"/>
                </a:solidFill>
                <a:latin typeface="Aptos"/>
              </a:rPr>
              <a:t>Bed low  ·  Bell in reach  ·  Footwear on  ·  Floor clear</a:t>
            </a:r>
          </a:p>
        </p:txBody>
      </p:sp>
      <p:pic>
        <p:nvPicPr>
          <p:cNvPr id="20" name="Picture 19" descr="File:A Modern Hospital Bed in Pok Oi Hospital.jpg">
            <a:extLst>
              <a:ext uri="{FF2B5EF4-FFF2-40B4-BE49-F238E27FC236}">
                <a16:creationId xmlns:a16="http://schemas.microsoft.com/office/drawing/2014/main" id="{89B72CA9-8BC9-A7B1-9365-2EED35CBA340}"/>
              </a:ext>
            </a:extLst>
          </p:cNvPr>
          <p:cNvPicPr>
            <a:picLocks noChangeAspect="1"/>
          </p:cNvPicPr>
          <p:nvPr/>
        </p:nvPicPr>
        <p:blipFill>
          <a:blip r:embed="rId3"/>
          <a:stretch>
            <a:fillRect/>
          </a:stretch>
        </p:blipFill>
        <p:spPr>
          <a:xfrm>
            <a:off x="287813" y="5503795"/>
            <a:ext cx="2549172" cy="1911879"/>
          </a:xfrm>
          <a:prstGeom prst="rect">
            <a:avLst/>
          </a:prstGeom>
        </p:spPr>
      </p:pic>
      <p:pic>
        <p:nvPicPr>
          <p:cNvPr id="21" name="Picture 20" descr="File:Sonnette 1.jpg">
            <a:extLst>
              <a:ext uri="{FF2B5EF4-FFF2-40B4-BE49-F238E27FC236}">
                <a16:creationId xmlns:a16="http://schemas.microsoft.com/office/drawing/2014/main" id="{2AF39D1C-5C26-1D15-5E76-987B54D31662}"/>
              </a:ext>
            </a:extLst>
          </p:cNvPr>
          <p:cNvPicPr>
            <a:picLocks noChangeAspect="1"/>
          </p:cNvPicPr>
          <p:nvPr/>
        </p:nvPicPr>
        <p:blipFill>
          <a:blip r:embed="rId4"/>
          <a:stretch>
            <a:fillRect/>
          </a:stretch>
        </p:blipFill>
        <p:spPr>
          <a:xfrm>
            <a:off x="3166250" y="5606407"/>
            <a:ext cx="1587500" cy="1752600"/>
          </a:xfrm>
          <a:prstGeom prst="rect">
            <a:avLst/>
          </a:prstGeom>
        </p:spPr>
      </p:pic>
      <p:pic>
        <p:nvPicPr>
          <p:cNvPr id="22" name="Picture 21" descr="File:2023 Nike SB Dunk Low Pro (3).jpg">
            <a:extLst>
              <a:ext uri="{FF2B5EF4-FFF2-40B4-BE49-F238E27FC236}">
                <a16:creationId xmlns:a16="http://schemas.microsoft.com/office/drawing/2014/main" id="{A05C9029-63DB-8098-F3D0-AEDB15DFA94A}"/>
              </a:ext>
            </a:extLst>
          </p:cNvPr>
          <p:cNvPicPr>
            <a:picLocks noChangeAspect="1"/>
          </p:cNvPicPr>
          <p:nvPr/>
        </p:nvPicPr>
        <p:blipFill>
          <a:blip r:embed="rId5"/>
          <a:srcRect l="6198" r="1070"/>
          <a:stretch>
            <a:fillRect/>
          </a:stretch>
        </p:blipFill>
        <p:spPr>
          <a:xfrm>
            <a:off x="4896000" y="5503794"/>
            <a:ext cx="2772000" cy="1911879"/>
          </a:xfrm>
          <a:prstGeom prst="rect">
            <a:avLst/>
          </a:prstGeom>
        </p:spPr>
      </p:pic>
      <p:pic>
        <p:nvPicPr>
          <p:cNvPr id="23" name="Picture 22" descr="File:Worcestershire Royal Hospital - 21st century ward - geograph.org.uk - 6481391.jpg">
            <a:extLst>
              <a:ext uri="{FF2B5EF4-FFF2-40B4-BE49-F238E27FC236}">
                <a16:creationId xmlns:a16="http://schemas.microsoft.com/office/drawing/2014/main" id="{03D6BA9C-C477-C615-B021-8B5B99D5FD91}"/>
              </a:ext>
            </a:extLst>
          </p:cNvPr>
          <p:cNvPicPr>
            <a:picLocks noChangeAspect="1"/>
          </p:cNvPicPr>
          <p:nvPr/>
        </p:nvPicPr>
        <p:blipFill>
          <a:blip r:embed="rId6"/>
          <a:stretch>
            <a:fillRect/>
          </a:stretch>
        </p:blipFill>
        <p:spPr>
          <a:xfrm>
            <a:off x="7854639" y="5503793"/>
            <a:ext cx="2549173" cy="1911880"/>
          </a:xfrm>
          <a:prstGeom prst="rect">
            <a:avLst/>
          </a:prstGeom>
        </p:spPr>
      </p:pic>
      <p:sp>
        <p:nvSpPr>
          <p:cNvPr id="24" name="Oval 23">
            <a:extLst>
              <a:ext uri="{FF2B5EF4-FFF2-40B4-BE49-F238E27FC236}">
                <a16:creationId xmlns:a16="http://schemas.microsoft.com/office/drawing/2014/main" id="{3748F4DD-9385-7814-2FEB-2BF27D69E98E}"/>
              </a:ext>
            </a:extLst>
          </p:cNvPr>
          <p:cNvSpPr/>
          <p:nvPr/>
        </p:nvSpPr>
        <p:spPr>
          <a:xfrm>
            <a:off x="8268789" y="6453051"/>
            <a:ext cx="1358537" cy="905956"/>
          </a:xfrm>
          <a:prstGeom prst="ellipse">
            <a:avLst/>
          </a:prstGeom>
          <a:noFill/>
          <a:ln w="635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5" name="Rectangle 24">
            <a:extLst>
              <a:ext uri="{FF2B5EF4-FFF2-40B4-BE49-F238E27FC236}">
                <a16:creationId xmlns:a16="http://schemas.microsoft.com/office/drawing/2014/main" id="{E5C02AE1-0B77-998C-6E8B-E84AACBB5C66}"/>
              </a:ext>
            </a:extLst>
          </p:cNvPr>
          <p:cNvSpPr/>
          <p:nvPr/>
        </p:nvSpPr>
        <p:spPr>
          <a:xfrm>
            <a:off x="3017775" y="5503793"/>
            <a:ext cx="1735975" cy="1911879"/>
          </a:xfrm>
          <a:prstGeom prst="rect">
            <a:avLst/>
          </a:prstGeom>
          <a:noFill/>
          <a:ln w="9525">
            <a:solidFill>
              <a:srgbClr val="999999"/>
            </a:solidFill>
            <a:prstDash val="dash"/>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t"/>
          <a:lstStyle/>
          <a:p>
            <a:pPr algn="l"/>
            <a:endParaRPr sz="1100" b="0" i="1" u="none" dirty="0">
              <a:solidFill>
                <a:srgbClr val="333333"/>
              </a:solidFill>
              <a:latin typeface="Aptos"/>
            </a:endParaRPr>
          </a:p>
        </p:txBody>
      </p:sp>
      <p:sp>
        <p:nvSpPr>
          <p:cNvPr id="26" name="Rectangle 25">
            <a:extLst>
              <a:ext uri="{FF2B5EF4-FFF2-40B4-BE49-F238E27FC236}">
                <a16:creationId xmlns:a16="http://schemas.microsoft.com/office/drawing/2014/main" id="{E7A5B074-45CB-175F-1994-A56A0D4344AA}"/>
              </a:ext>
            </a:extLst>
          </p:cNvPr>
          <p:cNvSpPr/>
          <p:nvPr/>
        </p:nvSpPr>
        <p:spPr>
          <a:xfrm>
            <a:off x="4934540" y="5503793"/>
            <a:ext cx="2733460" cy="1911879"/>
          </a:xfrm>
          <a:prstGeom prst="rect">
            <a:avLst/>
          </a:prstGeom>
          <a:noFill/>
          <a:ln w="9525">
            <a:solidFill>
              <a:srgbClr val="999999"/>
            </a:solidFill>
            <a:prstDash val="dash"/>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t"/>
          <a:lstStyle/>
          <a:p>
            <a:pPr algn="l"/>
            <a:endParaRPr sz="1100" b="0" i="1" u="none" dirty="0">
              <a:solidFill>
                <a:srgbClr val="333333"/>
              </a:solidFill>
              <a:latin typeface="Aptos"/>
            </a:endParaRPr>
          </a:p>
        </p:txBody>
      </p:sp>
      <p:sp>
        <p:nvSpPr>
          <p:cNvPr id="27" name="Rectangle 26"/>
          <p:cNvSpPr/>
          <p:nvPr/>
        </p:nvSpPr>
        <p:spPr>
          <a:xfrm>
            <a:off x="8892000" y="3600000"/>
            <a:ext cx="1512000" cy="720000"/>
          </a:xfrm>
          <a:prstGeom prst="rect">
            <a:avLst/>
          </a:prstGeom>
          <a:noFill/>
          <a:ln w="9525">
            <a:solidFill>
              <a:srgbClr val="999999"/>
            </a:solidFill>
            <a:prstDash val="dash"/>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ctr"/>
            <a:r>
              <a:rPr sz="1100" b="0" i="0" u="none">
                <a:solidFill>
                  <a:srgbClr val="333333"/>
                </a:solidFill>
                <a:latin typeface="Aptos"/>
              </a:rPr>
              <a:t>Bed lowered (where appropriate)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200000" y="144000"/>
            <a:ext cx="3204000" cy="288000"/>
          </a:xfrm>
          <a:prstGeom prst="rect">
            <a:avLst/>
          </a:prstGeom>
          <a:noFill/>
        </p:spPr>
        <p:txBody>
          <a:bodyPr wrap="square" lIns="54000" tIns="54000" rIns="54000" bIns="54000" anchor="t">
            <a:spAutoFit/>
          </a:bodyPr>
          <a:lstStyle/>
          <a:p>
            <a:pPr algn="r"/>
            <a:r>
              <a:rPr sz="700" b="0" i="0" u="none">
                <a:solidFill>
                  <a:srgbClr val="888888"/>
                </a:solidFill>
                <a:latin typeface="Aptos"/>
              </a:rPr>
              <a:t>Slide kit · Teaching That Lands · CC BY 4.0 · fabricated, not a real policy</a:t>
            </a:r>
          </a:p>
        </p:txBody>
      </p:sp>
      <p:sp>
        <p:nvSpPr>
          <p:cNvPr id="4" name="Rectangle 3"/>
          <p:cNvSpPr/>
          <p:nvPr/>
        </p:nvSpPr>
        <p:spPr>
          <a:xfrm>
            <a:off x="288000" y="504000"/>
            <a:ext cx="1944000" cy="576000"/>
          </a:xfrm>
          <a:prstGeom prst="rect">
            <a:avLst/>
          </a:prstGeom>
          <a:solidFill>
            <a:srgbClr val="3EA02E"/>
          </a:solidFill>
          <a:ln w="9525">
            <a:solidFill>
              <a:srgbClr val="999999"/>
            </a:solidFill>
            <a:prstDash val="dash"/>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ctr"/>
            <a:r>
              <a:rPr sz="2400" b="1" i="0" u="none">
                <a:solidFill>
                  <a:srgbClr val="CC0000"/>
                </a:solidFill>
                <a:latin typeface="Aptos"/>
              </a:rPr>
              <a:t>Floor clear</a:t>
            </a:r>
          </a:p>
        </p:txBody>
      </p:sp>
      <p:sp>
        <p:nvSpPr>
          <p:cNvPr id="5" name="Rectangle 4"/>
          <p:cNvSpPr/>
          <p:nvPr/>
        </p:nvSpPr>
        <p:spPr>
          <a:xfrm>
            <a:off x="2340000" y="504000"/>
            <a:ext cx="1944000" cy="576000"/>
          </a:xfrm>
          <a:prstGeom prst="rect">
            <a:avLst/>
          </a:prstGeom>
          <a:solidFill>
            <a:srgbClr val="FFFFFF"/>
          </a:solidFill>
          <a:ln w="9525">
            <a:solidFill>
              <a:srgbClr val="999999"/>
            </a:solidFill>
            <a:prstDash val="dash"/>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ctr"/>
            <a:r>
              <a:rPr sz="2400" b="1" i="0" u="none">
                <a:solidFill>
                  <a:srgbClr val="F2D600"/>
                </a:solidFill>
                <a:latin typeface="Aptos"/>
              </a:rPr>
              <a:t>Floor clear</a:t>
            </a:r>
          </a:p>
        </p:txBody>
      </p:sp>
      <p:sp>
        <p:nvSpPr>
          <p:cNvPr id="6" name="Rectangle 5"/>
          <p:cNvSpPr/>
          <p:nvPr/>
        </p:nvSpPr>
        <p:spPr>
          <a:xfrm>
            <a:off x="4392000" y="504000"/>
            <a:ext cx="1944000" cy="576000"/>
          </a:xfrm>
          <a:prstGeom prst="rect">
            <a:avLst/>
          </a:prstGeom>
          <a:solidFill>
            <a:srgbClr val="FFFFFF"/>
          </a:solidFill>
          <a:ln w="9525">
            <a:solidFill>
              <a:srgbClr val="999999"/>
            </a:solidFill>
            <a:prstDash val="dash"/>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ctr"/>
            <a:r>
              <a:rPr sz="2400" b="1" i="0" u="none">
                <a:solidFill>
                  <a:srgbClr val="C8C8C8"/>
                </a:solidFill>
                <a:latin typeface="Aptos"/>
              </a:rPr>
              <a:t>Floor clear</a:t>
            </a:r>
          </a:p>
        </p:txBody>
      </p:sp>
      <p:sp>
        <p:nvSpPr>
          <p:cNvPr id="7" name="Rectangle 6"/>
          <p:cNvSpPr/>
          <p:nvPr/>
        </p:nvSpPr>
        <p:spPr>
          <a:xfrm>
            <a:off x="6444000" y="504000"/>
            <a:ext cx="1944000" cy="576000"/>
          </a:xfrm>
          <a:prstGeom prst="rect">
            <a:avLst/>
          </a:prstGeom>
          <a:solidFill>
            <a:srgbClr val="EFF1F5"/>
          </a:solidFill>
          <a:ln w="9525">
            <a:solidFill>
              <a:srgbClr val="999999"/>
            </a:solidFill>
            <a:prstDash val="dash"/>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ctr"/>
            <a:r>
              <a:rPr sz="2400" b="1" i="0" u="none">
                <a:solidFill>
                  <a:srgbClr val="222222"/>
                </a:solidFill>
                <a:latin typeface="Aptos"/>
              </a:rPr>
              <a:t>Floor clear</a:t>
            </a:r>
          </a:p>
        </p:txBody>
      </p:sp>
      <p:sp>
        <p:nvSpPr>
          <p:cNvPr id="8" name="Rectangle 7"/>
          <p:cNvSpPr/>
          <p:nvPr/>
        </p:nvSpPr>
        <p:spPr>
          <a:xfrm>
            <a:off x="8496000" y="504000"/>
            <a:ext cx="1944000" cy="576000"/>
          </a:xfrm>
          <a:prstGeom prst="rect">
            <a:avLst/>
          </a:prstGeom>
          <a:solidFill>
            <a:srgbClr val="1F3A68"/>
          </a:solidFill>
          <a:ln w="9525">
            <a:solidFill>
              <a:srgbClr val="999999"/>
            </a:solidFill>
            <a:prstDash val="dash"/>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ctr"/>
            <a:r>
              <a:rPr sz="2400" b="1" i="0" u="none">
                <a:solidFill>
                  <a:srgbClr val="FFFFFF"/>
                </a:solidFill>
                <a:latin typeface="Aptos"/>
              </a:rPr>
              <a:t>Floor clear</a:t>
            </a:r>
          </a:p>
        </p:txBody>
      </p:sp>
      <p:sp>
        <p:nvSpPr>
          <p:cNvPr id="14" name="Rectangle 13"/>
          <p:cNvSpPr/>
          <p:nvPr/>
        </p:nvSpPr>
        <p:spPr>
          <a:xfrm>
            <a:off x="288000" y="3528000"/>
            <a:ext cx="5040000" cy="2592000"/>
          </a:xfrm>
          <a:prstGeom prst="rect">
            <a:avLst/>
          </a:prstGeom>
          <a:noFill/>
          <a:ln w="9525">
            <a:solidFill>
              <a:srgbClr val="999999"/>
            </a:solidFill>
            <a:prstDash val="dash"/>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l"/>
            <a:endParaRPr/>
          </a:p>
        </p:txBody>
      </p:sp>
      <p:graphicFrame>
        <p:nvGraphicFramePr>
          <p:cNvPr id="15" name="Chart 14"/>
          <p:cNvGraphicFramePr>
            <a:graphicFrameLocks noGrp="1"/>
          </p:cNvGraphicFramePr>
          <p:nvPr/>
        </p:nvGraphicFramePr>
        <p:xfrm>
          <a:off x="360000" y="3600000"/>
          <a:ext cx="4896000" cy="2448000"/>
        </p:xfrm>
        <a:graphic>
          <a:graphicData uri="http://schemas.openxmlformats.org/drawingml/2006/chart">
            <c:chart xmlns:c="http://schemas.openxmlformats.org/drawingml/2006/chart" xmlns:r="http://schemas.openxmlformats.org/officeDocument/2006/relationships" r:id="rId3"/>
          </a:graphicData>
        </a:graphic>
      </p:graphicFrame>
      <p:sp>
        <p:nvSpPr>
          <p:cNvPr id="16" name="Rectangle 15"/>
          <p:cNvSpPr/>
          <p:nvPr/>
        </p:nvSpPr>
        <p:spPr>
          <a:xfrm>
            <a:off x="5436000" y="3528000"/>
            <a:ext cx="3240000" cy="2592000"/>
          </a:xfrm>
          <a:prstGeom prst="rect">
            <a:avLst/>
          </a:prstGeom>
          <a:noFill/>
          <a:ln w="9525">
            <a:solidFill>
              <a:srgbClr val="999999"/>
            </a:solidFill>
            <a:prstDash val="dash"/>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l"/>
            <a:endParaRPr/>
          </a:p>
        </p:txBody>
      </p:sp>
      <p:graphicFrame>
        <p:nvGraphicFramePr>
          <p:cNvPr id="17" name="Chart 16"/>
          <p:cNvGraphicFramePr>
            <a:graphicFrameLocks noGrp="1"/>
          </p:cNvGraphicFramePr>
          <p:nvPr/>
        </p:nvGraphicFramePr>
        <p:xfrm>
          <a:off x="5508000" y="3600000"/>
          <a:ext cx="3096000" cy="2448000"/>
        </p:xfrm>
        <a:graphic>
          <a:graphicData uri="http://schemas.openxmlformats.org/drawingml/2006/chart">
            <c:chart xmlns:c="http://schemas.openxmlformats.org/drawingml/2006/chart" xmlns:r="http://schemas.openxmlformats.org/officeDocument/2006/relationships" r:id="rId4"/>
          </a:graphicData>
        </a:graphic>
      </p:graphicFrame>
      <p:sp>
        <p:nvSpPr>
          <p:cNvPr id="18" name="Rectangle 17"/>
          <p:cNvSpPr/>
          <p:nvPr/>
        </p:nvSpPr>
        <p:spPr>
          <a:xfrm>
            <a:off x="8784000" y="3528000"/>
            <a:ext cx="1620000" cy="1224000"/>
          </a:xfrm>
          <a:prstGeom prst="rect">
            <a:avLst/>
          </a:prstGeom>
          <a:noFill/>
          <a:ln w="9525">
            <a:solidFill>
              <a:srgbClr val="999999"/>
            </a:solidFill>
            <a:prstDash val="dash"/>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ctr"/>
            <a:r>
              <a:rPr sz="4000" b="1" i="0" u="none">
                <a:solidFill>
                  <a:srgbClr val="333333"/>
                </a:solidFill>
                <a:latin typeface="Aptos"/>
              </a:rPr>
              <a:t>2</a:t>
            </a:r>
          </a:p>
          <a:p>
            <a:pPr algn="ctr"/>
            <a:r>
              <a:rPr sz="1200" b="0" i="0" u="none">
                <a:solidFill>
                  <a:srgbClr val="333333"/>
                </a:solidFill>
                <a:latin typeface="Aptos"/>
              </a:rPr>
              <a:t>falls last month</a:t>
            </a:r>
          </a:p>
        </p:txBody>
      </p:sp>
      <p:sp>
        <p:nvSpPr>
          <p:cNvPr id="19" name="Rectangle 18"/>
          <p:cNvSpPr/>
          <p:nvPr/>
        </p:nvSpPr>
        <p:spPr>
          <a:xfrm>
            <a:off x="8784000" y="4860000"/>
            <a:ext cx="1620000" cy="1260000"/>
          </a:xfrm>
          <a:prstGeom prst="rect">
            <a:avLst/>
          </a:prstGeom>
          <a:noFill/>
          <a:ln w="9525">
            <a:solidFill>
              <a:srgbClr val="999999"/>
            </a:solidFill>
            <a:prstDash val="dash"/>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ctr"/>
            <a:r>
              <a:rPr sz="1600" b="0" i="0" u="none" dirty="0">
                <a:solidFill>
                  <a:srgbClr val="333333"/>
                </a:solidFill>
                <a:latin typeface="Times New Roman"/>
              </a:rPr>
              <a:t>Training compliance is currently </a:t>
            </a:r>
            <a:r>
              <a:rPr sz="1600" b="1" i="0" u="none" dirty="0">
                <a:solidFill>
                  <a:srgbClr val="333333"/>
                </a:solidFill>
                <a:latin typeface="Times New Roman"/>
              </a:rPr>
              <a:t>61%</a:t>
            </a:r>
          </a:p>
        </p:txBody>
      </p:sp>
      <p:pic>
        <p:nvPicPr>
          <p:cNvPr id="21" name="Picture 20" descr="File:Hospital room ubt.jpeg">
            <a:extLst>
              <a:ext uri="{FF2B5EF4-FFF2-40B4-BE49-F238E27FC236}">
                <a16:creationId xmlns:a16="http://schemas.microsoft.com/office/drawing/2014/main" id="{0CA534EE-9814-AC02-7CCB-2217682AF0E7}"/>
              </a:ext>
            </a:extLst>
          </p:cNvPr>
          <p:cNvPicPr>
            <a:picLocks noChangeAspect="1"/>
          </p:cNvPicPr>
          <p:nvPr/>
        </p:nvPicPr>
        <p:blipFill>
          <a:blip r:embed="rId5"/>
          <a:stretch>
            <a:fillRect/>
          </a:stretch>
        </p:blipFill>
        <p:spPr>
          <a:xfrm>
            <a:off x="293760" y="1206000"/>
            <a:ext cx="2919703" cy="2189777"/>
          </a:xfrm>
          <a:prstGeom prst="rect">
            <a:avLst/>
          </a:prstGeom>
        </p:spPr>
      </p:pic>
      <p:pic>
        <p:nvPicPr>
          <p:cNvPr id="22" name="Picture 21" descr="File:A woman supporting herself with a walking frame.jpg">
            <a:extLst>
              <a:ext uri="{FF2B5EF4-FFF2-40B4-BE49-F238E27FC236}">
                <a16:creationId xmlns:a16="http://schemas.microsoft.com/office/drawing/2014/main" id="{A599C908-F9CA-6AF3-DAFE-AE957DE1ED9A}"/>
              </a:ext>
            </a:extLst>
          </p:cNvPr>
          <p:cNvPicPr>
            <a:picLocks noChangeAspect="1"/>
          </p:cNvPicPr>
          <p:nvPr/>
        </p:nvPicPr>
        <p:blipFill>
          <a:blip r:embed="rId6"/>
          <a:stretch>
            <a:fillRect/>
          </a:stretch>
        </p:blipFill>
        <p:spPr>
          <a:xfrm>
            <a:off x="3372000" y="1206000"/>
            <a:ext cx="3175506" cy="2189776"/>
          </a:xfrm>
          <a:prstGeom prst="rect">
            <a:avLst/>
          </a:prstGeom>
        </p:spPr>
      </p:pic>
      <p:pic>
        <p:nvPicPr>
          <p:cNvPr id="23" name="Picture 22" descr="File:Doctor assisting foot injured boy to walk with crutches.jpg">
            <a:extLst>
              <a:ext uri="{FF2B5EF4-FFF2-40B4-BE49-F238E27FC236}">
                <a16:creationId xmlns:a16="http://schemas.microsoft.com/office/drawing/2014/main" id="{88BD3373-2FE8-7C12-BA84-FEB4BECC0E64}"/>
              </a:ext>
            </a:extLst>
          </p:cNvPr>
          <p:cNvPicPr>
            <a:picLocks noChangeAspect="1"/>
          </p:cNvPicPr>
          <p:nvPr/>
        </p:nvPicPr>
        <p:blipFill>
          <a:blip r:embed="rId7"/>
          <a:srcRect b="11008"/>
          <a:stretch>
            <a:fillRect/>
          </a:stretch>
        </p:blipFill>
        <p:spPr>
          <a:xfrm>
            <a:off x="6696546" y="1206000"/>
            <a:ext cx="3701507" cy="2196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200000" y="144000"/>
            <a:ext cx="3204000" cy="288000"/>
          </a:xfrm>
          <a:prstGeom prst="rect">
            <a:avLst/>
          </a:prstGeom>
          <a:noFill/>
        </p:spPr>
        <p:txBody>
          <a:bodyPr wrap="square" lIns="54000" tIns="54000" rIns="54000" bIns="54000" anchor="t">
            <a:spAutoFit/>
          </a:bodyPr>
          <a:lstStyle/>
          <a:p>
            <a:pPr algn="r"/>
            <a:r>
              <a:rPr sz="700" b="0" i="0" u="none">
                <a:solidFill>
                  <a:srgbClr val="888888"/>
                </a:solidFill>
                <a:latin typeface="Aptos"/>
              </a:rPr>
              <a:t>Slide kit · Teaching That Lands · CC BY 4.0 · fabricated, not a real policy</a:t>
            </a:r>
          </a:p>
        </p:txBody>
      </p:sp>
      <p:sp>
        <p:nvSpPr>
          <p:cNvPr id="4" name="Rectangle 3"/>
          <p:cNvSpPr/>
          <p:nvPr/>
        </p:nvSpPr>
        <p:spPr>
          <a:xfrm>
            <a:off x="288000" y="504000"/>
            <a:ext cx="1388400" cy="864000"/>
          </a:xfrm>
          <a:prstGeom prst="rect">
            <a:avLst/>
          </a:prstGeom>
          <a:solidFill>
            <a:srgbClr val="005EB8"/>
          </a:solidFill>
          <a:ln w="9525">
            <a:solidFill>
              <a:srgbClr val="999999"/>
            </a:solidFill>
            <a:prstDash val="dash"/>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ctr"/>
            <a:r>
              <a:rPr lang="en-GB" sz="4800" b="1" i="1" dirty="0">
                <a:solidFill>
                  <a:srgbClr val="FFFFFF"/>
                </a:solidFill>
                <a:latin typeface="Aptos"/>
              </a:rPr>
              <a:t>TTL</a:t>
            </a:r>
            <a:endParaRPr sz="4800" b="1" i="1" u="none" dirty="0">
              <a:solidFill>
                <a:srgbClr val="FFFFFF"/>
              </a:solidFill>
              <a:latin typeface="Aptos"/>
            </a:endParaRPr>
          </a:p>
        </p:txBody>
      </p:sp>
      <p:sp>
        <p:nvSpPr>
          <p:cNvPr id="5" name="Rectangle 4"/>
          <p:cNvSpPr/>
          <p:nvPr/>
        </p:nvSpPr>
        <p:spPr>
          <a:xfrm>
            <a:off x="1805354" y="504000"/>
            <a:ext cx="1665046" cy="864000"/>
          </a:xfrm>
          <a:prstGeom prst="rect">
            <a:avLst/>
          </a:prstGeom>
          <a:noFill/>
          <a:ln w="9525">
            <a:solidFill>
              <a:srgbClr val="999999"/>
            </a:solidFill>
            <a:prstDash val="dash"/>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r"/>
            <a:r>
              <a:rPr lang="en-GB" sz="1200" b="1" i="0" u="none" dirty="0">
                <a:solidFill>
                  <a:srgbClr val="333333"/>
                </a:solidFill>
                <a:latin typeface="Arial Narrow"/>
              </a:rPr>
              <a:t>Teaching That Lands</a:t>
            </a:r>
            <a:endParaRPr sz="1200" b="1" i="0" u="none" dirty="0">
              <a:solidFill>
                <a:srgbClr val="333333"/>
              </a:solidFill>
              <a:latin typeface="Arial Narrow"/>
            </a:endParaRPr>
          </a:p>
          <a:p>
            <a:pPr algn="r"/>
            <a:r>
              <a:rPr lang="en-GB" sz="1000" b="0" i="0" u="none" dirty="0">
                <a:solidFill>
                  <a:srgbClr val="333333"/>
                </a:solidFill>
                <a:latin typeface="Arial Narrow"/>
              </a:rPr>
              <a:t>Health and Safety Department</a:t>
            </a:r>
          </a:p>
          <a:p>
            <a:pPr algn="r"/>
            <a:endParaRPr lang="en-GB" sz="1000" b="0" i="0" u="none" dirty="0">
              <a:solidFill>
                <a:srgbClr val="333333"/>
              </a:solidFill>
              <a:latin typeface="Arial Narrow"/>
            </a:endParaRPr>
          </a:p>
        </p:txBody>
      </p:sp>
      <p:sp>
        <p:nvSpPr>
          <p:cNvPr id="6" name="Cloud Callout 5"/>
          <p:cNvSpPr/>
          <p:nvPr/>
        </p:nvSpPr>
        <p:spPr>
          <a:xfrm>
            <a:off x="3855600" y="359675"/>
            <a:ext cx="2160000" cy="1080000"/>
          </a:xfrm>
          <a:prstGeom prst="cloudCallout">
            <a:avLst/>
          </a:prstGeom>
          <a:solidFill>
            <a:srgbClr val="FFFF66"/>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r>
              <a:rPr sz="2800" b="1" dirty="0">
                <a:solidFill>
                  <a:srgbClr val="CC0000"/>
                </a:solidFill>
                <a:latin typeface="Comic Sans MS"/>
              </a:rPr>
              <a:t>HELP!</a:t>
            </a:r>
          </a:p>
        </p:txBody>
      </p:sp>
      <p:sp>
        <p:nvSpPr>
          <p:cNvPr id="7" name="Rectangle 6"/>
          <p:cNvSpPr/>
          <p:nvPr/>
        </p:nvSpPr>
        <p:spPr>
          <a:xfrm>
            <a:off x="6400800" y="504000"/>
            <a:ext cx="4003200" cy="584311"/>
          </a:xfrm>
          <a:prstGeom prst="rect">
            <a:avLst/>
          </a:prstGeom>
          <a:noFill/>
          <a:ln w="9525">
            <a:solidFill>
              <a:srgbClr val="999999"/>
            </a:solidFill>
            <a:prstDash val="dash"/>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ctr"/>
            <a:r>
              <a:rPr sz="1600" b="1" i="0" u="sng">
                <a:solidFill>
                  <a:srgbClr val="CC00CC"/>
                </a:solidFill>
                <a:latin typeface="Comic Sans MS"/>
              </a:rPr>
              <a:t>*** PLEASE READ ***</a:t>
            </a:r>
          </a:p>
        </p:txBody>
      </p:sp>
      <p:sp>
        <p:nvSpPr>
          <p:cNvPr id="8" name="Rectangle 7"/>
          <p:cNvSpPr/>
          <p:nvPr/>
        </p:nvSpPr>
        <p:spPr>
          <a:xfrm>
            <a:off x="287813" y="1813937"/>
            <a:ext cx="10116000" cy="1181306"/>
          </a:xfrm>
          <a:prstGeom prst="rect">
            <a:avLst/>
          </a:prstGeom>
          <a:noFill/>
          <a:ln w="9525">
            <a:solidFill>
              <a:srgbClr val="999999"/>
            </a:solidFill>
            <a:prstDash val="dash"/>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ctr"/>
            <a:r>
              <a:rPr sz="3600" b="0" i="0" u="none" dirty="0">
                <a:solidFill>
                  <a:srgbClr val="BBBBBB"/>
                </a:solidFill>
                <a:latin typeface="Arial Black"/>
              </a:rPr>
              <a:t>CONFIDENTIAL – NOT FOR CIRCULATION</a:t>
            </a:r>
          </a:p>
        </p:txBody>
      </p:sp>
      <p:sp>
        <p:nvSpPr>
          <p:cNvPr id="9" name="Rectangle 8"/>
          <p:cNvSpPr/>
          <p:nvPr/>
        </p:nvSpPr>
        <p:spPr>
          <a:xfrm>
            <a:off x="287813" y="3188995"/>
            <a:ext cx="3694725" cy="504000"/>
          </a:xfrm>
          <a:prstGeom prst="rect">
            <a:avLst/>
          </a:prstGeom>
          <a:noFill/>
          <a:ln w="9525">
            <a:solidFill>
              <a:srgbClr val="999999"/>
            </a:solidFill>
            <a:prstDash val="dash"/>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l"/>
            <a:r>
              <a:rPr sz="1200" b="0" i="0" u="sng">
                <a:solidFill>
                  <a:srgbClr val="0000EE"/>
                </a:solidFill>
                <a:latin typeface="Arial"/>
              </a:rPr>
              <a:t>Click here for the full 47-page policy (intranet link)</a:t>
            </a:r>
          </a:p>
        </p:txBody>
      </p:sp>
      <p:sp>
        <p:nvSpPr>
          <p:cNvPr id="10" name="Rectangle 9"/>
          <p:cNvSpPr/>
          <p:nvPr/>
        </p:nvSpPr>
        <p:spPr>
          <a:xfrm>
            <a:off x="4215600" y="3185118"/>
            <a:ext cx="1800000" cy="504000"/>
          </a:xfrm>
          <a:prstGeom prst="rect">
            <a:avLst/>
          </a:prstGeom>
          <a:noFill/>
          <a:ln w="9525">
            <a:solidFill>
              <a:srgbClr val="999999"/>
            </a:solidFill>
            <a:prstDash val="dash"/>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ctr"/>
            <a:r>
              <a:rPr sz="1000" b="0" i="0" u="none">
                <a:solidFill>
                  <a:srgbClr val="333333"/>
                </a:solidFill>
                <a:latin typeface="Arial"/>
              </a:rPr>
              <a:t>Slide 14 of 63</a:t>
            </a:r>
          </a:p>
        </p:txBody>
      </p:sp>
      <p:sp>
        <p:nvSpPr>
          <p:cNvPr id="11" name="Rectangle 10"/>
          <p:cNvSpPr/>
          <p:nvPr/>
        </p:nvSpPr>
        <p:spPr>
          <a:xfrm>
            <a:off x="6995630" y="3188995"/>
            <a:ext cx="3381877" cy="504000"/>
          </a:xfrm>
          <a:prstGeom prst="rect">
            <a:avLst/>
          </a:prstGeom>
          <a:noFill/>
          <a:ln w="9525">
            <a:solidFill>
              <a:srgbClr val="999999"/>
            </a:solidFill>
            <a:prstDash val="dash"/>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l"/>
            <a:r>
              <a:rPr sz="1000" b="0" i="0" u="none" dirty="0">
                <a:solidFill>
                  <a:srgbClr val="333333"/>
                </a:solidFill>
                <a:latin typeface="Arial"/>
              </a:rPr>
              <a:t>Any questions please contact the Falls Lead (ext. 4471)</a:t>
            </a:r>
          </a:p>
        </p:txBody>
      </p:sp>
      <p:sp>
        <p:nvSpPr>
          <p:cNvPr id="12" name="Rectangle 11"/>
          <p:cNvSpPr/>
          <p:nvPr/>
        </p:nvSpPr>
        <p:spPr>
          <a:xfrm>
            <a:off x="287999" y="3803808"/>
            <a:ext cx="10116000" cy="504000"/>
          </a:xfrm>
          <a:prstGeom prst="rect">
            <a:avLst/>
          </a:prstGeom>
          <a:noFill/>
          <a:ln w="9525">
            <a:solidFill>
              <a:srgbClr val="999999"/>
            </a:solidFill>
            <a:prstDash val="dash"/>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l"/>
            <a:r>
              <a:rPr sz="800" b="0" i="0" u="none">
                <a:solidFill>
                  <a:srgbClr val="333333"/>
                </a:solidFill>
                <a:latin typeface="Arial"/>
              </a:rPr>
              <a:t>References: National Falls Guidance (2015); Local Policy FP-03 v3.2; Falls Steering Group minutes (various); Appendix A–K; Form BR-7; Form BR-7a (revised); E-learning FP-201</a:t>
            </a:r>
          </a:p>
        </p:txBody>
      </p:sp>
      <p:sp>
        <p:nvSpPr>
          <p:cNvPr id="13" name="Rectangle 12"/>
          <p:cNvSpPr/>
          <p:nvPr/>
        </p:nvSpPr>
        <p:spPr>
          <a:xfrm>
            <a:off x="287813" y="4418621"/>
            <a:ext cx="6030738" cy="504000"/>
          </a:xfrm>
          <a:prstGeom prst="rect">
            <a:avLst/>
          </a:prstGeom>
          <a:noFill/>
          <a:ln w="9525">
            <a:solidFill>
              <a:srgbClr val="999999"/>
            </a:solidFill>
            <a:prstDash val="dash"/>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l"/>
            <a:r>
              <a:rPr sz="1600" b="0" i="0" u="none">
                <a:solidFill>
                  <a:srgbClr val="006600"/>
                </a:solidFill>
                <a:latin typeface="Comic Sans MS"/>
              </a:rPr>
              <a:t>Remember SAFE: Safety, Assessment, Falls, Environment</a:t>
            </a:r>
          </a:p>
        </p:txBody>
      </p:sp>
      <p:sp>
        <p:nvSpPr>
          <p:cNvPr id="14" name="Rectangle 13"/>
          <p:cNvSpPr/>
          <p:nvPr/>
        </p:nvSpPr>
        <p:spPr>
          <a:xfrm>
            <a:off x="6494584" y="4418621"/>
            <a:ext cx="3882923" cy="504000"/>
          </a:xfrm>
          <a:prstGeom prst="rect">
            <a:avLst/>
          </a:prstGeom>
          <a:noFill/>
          <a:ln w="9525">
            <a:solidFill>
              <a:srgbClr val="999999"/>
            </a:solidFill>
            <a:prstDash val="dash"/>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l"/>
            <a:r>
              <a:rPr sz="1600" b="1" i="0" u="none" dirty="0">
                <a:solidFill>
                  <a:srgbClr val="CC0000"/>
                </a:solidFill>
                <a:latin typeface="Times New Roman"/>
              </a:rPr>
              <a:t>Compliance will be audited monthly</a:t>
            </a:r>
          </a:p>
        </p:txBody>
      </p:sp>
      <p:sp>
        <p:nvSpPr>
          <p:cNvPr id="15" name="Rectangle 14"/>
          <p:cNvSpPr/>
          <p:nvPr/>
        </p:nvSpPr>
        <p:spPr>
          <a:xfrm>
            <a:off x="287999" y="5112000"/>
            <a:ext cx="3733585" cy="936000"/>
          </a:xfrm>
          <a:prstGeom prst="rect">
            <a:avLst/>
          </a:prstGeom>
          <a:noFill/>
          <a:ln w="9525">
            <a:solidFill>
              <a:srgbClr val="999999"/>
            </a:solidFill>
            <a:prstDash val="dash"/>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ctr"/>
            <a:r>
              <a:rPr sz="1500" b="1" i="0" u="none">
                <a:solidFill>
                  <a:srgbClr val="333333"/>
                </a:solidFill>
                <a:latin typeface="Aptos"/>
              </a:rPr>
              <a:t>Bed low · Bell close · Shoes on · Floor safe</a:t>
            </a:r>
          </a:p>
        </p:txBody>
      </p:sp>
      <p:sp>
        <p:nvSpPr>
          <p:cNvPr id="16" name="Rectangle 15"/>
          <p:cNvSpPr/>
          <p:nvPr/>
        </p:nvSpPr>
        <p:spPr>
          <a:xfrm>
            <a:off x="4119239" y="5112000"/>
            <a:ext cx="3577701" cy="936000"/>
          </a:xfrm>
          <a:prstGeom prst="rect">
            <a:avLst/>
          </a:prstGeom>
          <a:noFill/>
          <a:ln w="9525">
            <a:solidFill>
              <a:srgbClr val="999999"/>
            </a:solidFill>
            <a:prstDash val="dash"/>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ctr"/>
            <a:r>
              <a:rPr sz="1600" b="1" i="0" u="none">
                <a:solidFill>
                  <a:srgbClr val="6A1B9A"/>
                </a:solidFill>
                <a:latin typeface="Comic Sans MS"/>
              </a:rPr>
              <a:t>The 4 Bs: Bed, Bell, Boots, Barriers</a:t>
            </a:r>
          </a:p>
        </p:txBody>
      </p:sp>
      <p:sp>
        <p:nvSpPr>
          <p:cNvPr id="17" name="Rectangle 16"/>
          <p:cNvSpPr/>
          <p:nvPr/>
        </p:nvSpPr>
        <p:spPr>
          <a:xfrm>
            <a:off x="7794594" y="5112000"/>
            <a:ext cx="2609406" cy="936000"/>
          </a:xfrm>
          <a:prstGeom prst="rect">
            <a:avLst/>
          </a:prstGeom>
          <a:noFill/>
          <a:ln w="9525">
            <a:solidFill>
              <a:srgbClr val="999999"/>
            </a:solidFill>
            <a:prstDash val="dash"/>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ctr"/>
            <a:r>
              <a:rPr sz="1300" b="0" i="0" u="none">
                <a:solidFill>
                  <a:srgbClr val="333333"/>
                </a:solidFill>
                <a:latin typeface="Aptos"/>
              </a:rPr>
              <a:t>Check all four before you leave</a:t>
            </a:r>
          </a:p>
        </p:txBody>
      </p:sp>
      <p:sp>
        <p:nvSpPr>
          <p:cNvPr id="18" name="Rectangle 17"/>
          <p:cNvSpPr/>
          <p:nvPr/>
        </p:nvSpPr>
        <p:spPr>
          <a:xfrm>
            <a:off x="287999" y="6192000"/>
            <a:ext cx="2489244" cy="1152000"/>
          </a:xfrm>
          <a:prstGeom prst="rect">
            <a:avLst/>
          </a:prstGeom>
          <a:noFill/>
          <a:ln w="9525">
            <a:solidFill>
              <a:srgbClr val="999999"/>
            </a:solidFill>
            <a:prstDash val="dash"/>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ctr"/>
            <a:r>
              <a:rPr sz="1100" b="0" i="0" u="none">
                <a:solidFill>
                  <a:srgbClr val="333333"/>
                </a:solidFill>
                <a:latin typeface="Aptos"/>
              </a:rPr>
              <a:t>Before you leave: bed, bell, footwear, floor, obs, fluids, pain, toileting</a:t>
            </a:r>
          </a:p>
        </p:txBody>
      </p:sp>
      <p:sp>
        <p:nvSpPr>
          <p:cNvPr id="19" name="Rectangle 18"/>
          <p:cNvSpPr/>
          <p:nvPr/>
        </p:nvSpPr>
        <p:spPr>
          <a:xfrm>
            <a:off x="2885243" y="6192000"/>
            <a:ext cx="2715099" cy="1152000"/>
          </a:xfrm>
          <a:prstGeom prst="rect">
            <a:avLst/>
          </a:prstGeom>
          <a:noFill/>
          <a:ln w="9525">
            <a:solidFill>
              <a:srgbClr val="999999"/>
            </a:solidFill>
            <a:prstDash val="dash"/>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ctr"/>
            <a:r>
              <a:rPr sz="1600" b="0" i="0" u="none" dirty="0">
                <a:solidFill>
                  <a:srgbClr val="2E741F"/>
                </a:solidFill>
                <a:latin typeface="Aptos"/>
              </a:rPr>
              <a:t>● </a:t>
            </a:r>
            <a:r>
              <a:rPr sz="1300" b="0" i="0" u="none" dirty="0">
                <a:solidFill>
                  <a:srgbClr val="333333"/>
                </a:solidFill>
                <a:latin typeface="Aptos"/>
              </a:rPr>
              <a:t>Bed  </a:t>
            </a:r>
            <a:r>
              <a:rPr sz="1600" b="0" i="0" u="none" dirty="0">
                <a:solidFill>
                  <a:srgbClr val="CB0E37"/>
                </a:solidFill>
                <a:latin typeface="Aptos"/>
              </a:rPr>
              <a:t>● </a:t>
            </a:r>
            <a:r>
              <a:rPr sz="1300" b="0" i="0" u="none" dirty="0">
                <a:solidFill>
                  <a:srgbClr val="333333"/>
                </a:solidFill>
                <a:latin typeface="Aptos"/>
              </a:rPr>
              <a:t>Bell  </a:t>
            </a:r>
            <a:r>
              <a:rPr sz="1600" b="0" i="0" u="none" dirty="0">
                <a:solidFill>
                  <a:srgbClr val="2E741F"/>
                </a:solidFill>
                <a:latin typeface="Aptos"/>
              </a:rPr>
              <a:t>● </a:t>
            </a:r>
            <a:r>
              <a:rPr sz="1300" b="0" i="0" u="none" dirty="0">
                <a:solidFill>
                  <a:srgbClr val="333333"/>
                </a:solidFill>
                <a:latin typeface="Aptos"/>
              </a:rPr>
              <a:t>Footwear  </a:t>
            </a:r>
            <a:r>
              <a:rPr sz="1600" b="0" i="0" u="none" dirty="0">
                <a:solidFill>
                  <a:srgbClr val="CB0E37"/>
                </a:solidFill>
                <a:latin typeface="Aptos"/>
              </a:rPr>
              <a:t>● </a:t>
            </a:r>
            <a:r>
              <a:rPr sz="1300" b="0" i="0" u="none" dirty="0">
                <a:solidFill>
                  <a:srgbClr val="333333"/>
                </a:solidFill>
                <a:latin typeface="Aptos"/>
              </a:rPr>
              <a:t>Floor</a:t>
            </a:r>
          </a:p>
          <a:p>
            <a:pPr algn="ctr"/>
            <a:r>
              <a:rPr sz="900" b="0" i="1" u="none" dirty="0">
                <a:solidFill>
                  <a:srgbClr val="333333"/>
                </a:solidFill>
                <a:latin typeface="Aptos"/>
              </a:rPr>
              <a:t>(green = done, red = not done)</a:t>
            </a:r>
          </a:p>
        </p:txBody>
      </p:sp>
      <p:sp>
        <p:nvSpPr>
          <p:cNvPr id="20" name="Rectangle 19"/>
          <p:cNvSpPr/>
          <p:nvPr/>
        </p:nvSpPr>
        <p:spPr>
          <a:xfrm>
            <a:off x="5708342" y="6192000"/>
            <a:ext cx="2355658" cy="1152000"/>
          </a:xfrm>
          <a:prstGeom prst="rect">
            <a:avLst/>
          </a:prstGeom>
          <a:noFill/>
          <a:ln w="9525">
            <a:solidFill>
              <a:srgbClr val="999999"/>
            </a:solidFill>
            <a:prstDash val="dash"/>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ctr"/>
            <a:r>
              <a:rPr sz="1200" b="0" i="0" u="none">
                <a:solidFill>
                  <a:srgbClr val="333333"/>
                </a:solidFill>
                <a:latin typeface="Aptos"/>
              </a:rPr>
              <a:t>Around 1 in 3 adults over 65 living at home fall at least once a year</a:t>
            </a:r>
          </a:p>
        </p:txBody>
      </p:sp>
      <p:sp>
        <p:nvSpPr>
          <p:cNvPr id="21" name="Rectangle 20"/>
          <p:cNvSpPr/>
          <p:nvPr/>
        </p:nvSpPr>
        <p:spPr>
          <a:xfrm>
            <a:off x="8172000" y="6192000"/>
            <a:ext cx="2232000" cy="1152000"/>
          </a:xfrm>
          <a:prstGeom prst="rect">
            <a:avLst/>
          </a:prstGeom>
          <a:noFill/>
          <a:ln w="9525">
            <a:solidFill>
              <a:srgbClr val="999999"/>
            </a:solidFill>
            <a:prstDash val="dash"/>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ctr"/>
          <a:lstStyle/>
          <a:p>
            <a:pPr algn="ctr"/>
            <a:r>
              <a:rPr sz="900" b="0" i="0" u="none">
                <a:solidFill>
                  <a:srgbClr val="333333"/>
                </a:solidFill>
                <a:latin typeface="Aptos"/>
              </a:rPr>
              <a:t>Unless contraindicated: document why. Check they can use the bell. Hospital socks only if they grip.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0000" y="360000"/>
            <a:ext cx="9972000" cy="432000"/>
          </a:xfrm>
          <a:prstGeom prst="rect">
            <a:avLst/>
          </a:prstGeom>
          <a:noFill/>
        </p:spPr>
        <p:txBody>
          <a:bodyPr wrap="square" anchor="t" lIns="54000" rIns="54000" tIns="54000" bIns="54000">
            <a:spAutoFit/>
          </a:bodyPr>
          <a:lstStyle/>
          <a:p>
            <a:pPr algn="l"/>
            <a:r>
              <a:rPr sz="2000" b="1" i="0" u="none">
                <a:solidFill>
                  <a:srgbClr val="333333"/>
                </a:solidFill>
                <a:latin typeface="Georgia"/>
              </a:rPr>
              <a:t>Credits</a:t>
            </a:r>
          </a:p>
        </p:txBody>
      </p:sp>
      <p:sp>
        <p:nvSpPr>
          <p:cNvPr id="3" name="TextBox 2"/>
          <p:cNvSpPr txBox="1"/>
          <p:nvPr/>
        </p:nvSpPr>
        <p:spPr>
          <a:xfrm>
            <a:off x="360000" y="864000"/>
            <a:ext cx="9972000" cy="5760000"/>
          </a:xfrm>
          <a:prstGeom prst="rect">
            <a:avLst/>
          </a:prstGeom>
          <a:noFill/>
        </p:spPr>
        <p:txBody>
          <a:bodyPr wrap="square" anchor="t" lIns="54000" rIns="54000" tIns="54000" bIns="54000">
            <a:spAutoFit/>
          </a:bodyPr>
          <a:lstStyle/>
          <a:p>
            <a:pPr algn="l"/>
            <a:r>
              <a:rPr sz="1000" b="1" i="0" u="none">
                <a:solidFill>
                  <a:srgbClr val="333333"/>
                </a:solidFill>
                <a:latin typeface="Aptos"/>
              </a:rPr>
              <a:t>Page 2, patient: </a:t>
            </a:r>
            <a:r>
              <a:rPr sz="1000" b="0" i="0" u="none">
                <a:solidFill>
                  <a:srgbClr val="333333"/>
                </a:solidFill>
                <a:latin typeface="Aptos"/>
              </a:rPr>
              <a:t>“Paciente em recuperação da COVID-19 fazendo oxigenoterapia via cânula nasal” by Parzeus, CC BY-SA 4.0. commons.wikimedia.org/wiki/File:Oxigenoterapia_para_COVID-19_-_São_Borja_23-04-2021.jpg</a:t>
            </a:r>
          </a:p>
          <a:p>
            <a:pPr algn="l"/>
            <a:r>
              <a:rPr sz="1000" b="1" i="0" u="none">
                <a:solidFill>
                  <a:srgbClr val="333333"/>
                </a:solidFill>
                <a:latin typeface="Aptos"/>
              </a:rPr>
              <a:t>Page 3, bed: </a:t>
            </a:r>
            <a:r>
              <a:rPr sz="1000" b="0" i="0" u="none">
                <a:solidFill>
                  <a:srgbClr val="333333"/>
                </a:solidFill>
                <a:latin typeface="Aptos"/>
              </a:rPr>
              <a:t>“A Modern Hospital Bed at out-patients clinic in Pok Oi Hospital in Yuen Long, Hong Kong” by Peachyeung316, CC BY-SA 4.0. commons.wikimedia.org/wiki/File:A_Modern_Hospital_Bed_in_Pok_Oi_Hospital.jpg</a:t>
            </a:r>
          </a:p>
          <a:p>
            <a:pPr algn="l"/>
            <a:r>
              <a:rPr sz="1000" b="1" i="0" u="none">
                <a:solidFill>
                  <a:srgbClr val="333333"/>
                </a:solidFill>
                <a:latin typeface="Aptos"/>
              </a:rPr>
              <a:t>Page 3, bell: </a:t>
            </a:r>
            <a:r>
              <a:rPr sz="1000" b="0" i="0" u="none">
                <a:solidFill>
                  <a:srgbClr val="333333"/>
                </a:solidFill>
                <a:latin typeface="Aptos"/>
              </a:rPr>
              <a:t>“Sonnette de type hôtel ou de table” by Ceridwen~commonswiki, CC BY-SA 4.0. commons.wikimedia.org/wiki/File:Sonnette_1.jpg</a:t>
            </a:r>
          </a:p>
          <a:p>
            <a:pPr algn="l"/>
            <a:r>
              <a:rPr sz="1000" b="1" i="0" u="none">
                <a:solidFill>
                  <a:srgbClr val="333333"/>
                </a:solidFill>
                <a:latin typeface="Aptos"/>
              </a:rPr>
              <a:t>Page 3, shoe: </a:t>
            </a:r>
            <a:r>
              <a:rPr sz="1000" b="0" i="0" u="none">
                <a:solidFill>
                  <a:srgbClr val="333333"/>
                </a:solidFill>
                <a:latin typeface="Aptos"/>
              </a:rPr>
              <a:t>“Nike SB Dunk Low Pro shoes” by Jacek Halicki, CC BY-SA 4.0. commons.wikimedia.org/wiki/File:2023_Nike_SB_Dunk_Low_Pro_(3).jpg</a:t>
            </a:r>
          </a:p>
          <a:p>
            <a:pPr algn="l"/>
            <a:r>
              <a:rPr sz="1000" b="1" i="0" u="none">
                <a:solidFill>
                  <a:srgbClr val="333333"/>
                </a:solidFill>
                <a:latin typeface="Aptos"/>
              </a:rPr>
              <a:t>Page 3, ward corridor: </a:t>
            </a:r>
            <a:r>
              <a:rPr sz="1000" b="0" i="0" u="none">
                <a:solidFill>
                  <a:srgbClr val="333333"/>
                </a:solidFill>
                <a:latin typeface="Aptos"/>
              </a:rPr>
              <a:t>“Worcestershire Royal Hospital - 21st century ward” by Chris Allen, CC BY-SA 2.0 (red circle added; this adapted image is CC BY-SA 2.0). commons.wikimedia.org/wiki/File:Worcestershire_Royal_Hospital_-_21st_century_ward_-_geograph.org.uk_-_6481391.jpg</a:t>
            </a:r>
          </a:p>
          <a:p>
            <a:pPr algn="l"/>
            <a:r>
              <a:rPr sz="1000" b="1" i="0" u="none">
                <a:solidFill>
                  <a:srgbClr val="333333"/>
                </a:solidFill>
                <a:latin typeface="Aptos"/>
              </a:rPr>
              <a:t>Page 4, hospital room: </a:t>
            </a:r>
            <a:r>
              <a:rPr sz="1000" b="0" i="0" u="none">
                <a:solidFill>
                  <a:srgbClr val="333333"/>
                </a:solidFill>
                <a:latin typeface="Aptos"/>
              </a:rPr>
              <a:t>“A hospital room with 2 beds in a Danish Hospital” by Tomasz Sienicki, public domain. commons.wikimedia.org/wiki/File:Hospital_room_ubt.jpeg</a:t>
            </a:r>
          </a:p>
          <a:p>
            <a:pPr algn="l"/>
            <a:r>
              <a:rPr sz="1000" b="1" i="0" u="none">
                <a:solidFill>
                  <a:srgbClr val="333333"/>
                </a:solidFill>
                <a:latin typeface="Aptos"/>
              </a:rPr>
              <a:t>Page 4, walking frame: </a:t>
            </a:r>
            <a:r>
              <a:rPr sz="1000" b="0" i="0" u="none">
                <a:solidFill>
                  <a:srgbClr val="333333"/>
                </a:solidFill>
                <a:latin typeface="Aptos"/>
              </a:rPr>
              <a:t>“A woman supporting herself with a walking frame” by rawpixel.com, CC0 1.0. commons.wikimedia.org/wiki/File:A_woman_supporting_herself_with_a_walking_frame.jpg</a:t>
            </a:r>
          </a:p>
          <a:p>
            <a:pPr algn="l"/>
            <a:r>
              <a:rPr sz="1000" b="1" i="0" u="none">
                <a:solidFill>
                  <a:srgbClr val="333333"/>
                </a:solidFill>
                <a:latin typeface="Aptos"/>
              </a:rPr>
              <a:t>Page 4, crutches: </a:t>
            </a:r>
            <a:r>
              <a:rPr sz="1000" b="0" i="0" u="none">
                <a:solidFill>
                  <a:srgbClr val="333333"/>
                </a:solidFill>
                <a:latin typeface="Aptos"/>
              </a:rPr>
              <a:t>“A doctor assisting a foot injured boy to walk with crutches” by Awesome Content, free for any purpose. commons.wikimedia.org/wiki/File:Doctor_assisting_foot_injured_boy_to_walk_with_crutches.jpg</a:t>
            </a:r>
          </a:p>
          <a:p>
            <a:pPr algn="l"/>
            <a:r>
              <a:rPr sz="1000" b="1" i="0" u="none">
                <a:solidFill>
                  <a:srgbClr val="333333"/>
                </a:solidFill>
                <a:latin typeface="Aptos"/>
              </a:rPr>
              <a:t>Fox illustrations: </a:t>
            </a:r>
            <a:r>
              <a:rPr sz="1000" b="0" i="0" u="none">
                <a:solidFill>
                  <a:srgbClr val="333333"/>
                </a:solidFill>
                <a:latin typeface="Aptos"/>
              </a:rPr>
              <a:t>Teaching That Lands, CC BY 4.0.</a:t>
            </a:r>
          </a:p>
          <a:p>
            <a:pPr algn="l"/>
            <a:r>
              <a:rPr sz="600" b="0" i="0" u="none">
                <a:solidFill>
                  <a:srgbClr val="333333"/>
                </a:solidFill>
                <a:latin typeface="Aptos"/>
              </a:rPr>
              <a:t/>
            </a:r>
          </a:p>
          <a:p>
            <a:pPr algn="l"/>
            <a:r>
              <a:rPr sz="1000" b="0" i="1" u="none">
                <a:solidFill>
                  <a:srgbClr val="333333"/>
                </a:solidFill>
                <a:latin typeface="Aptos"/>
              </a:rPr>
              <a:t>Images keep their own licences, as above. Everything else in this kit (text, layout, made-up content) is Teaching That Lands, CC BY 4.0. Fabricated teaching content: not a real policy.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42</TotalTime>
  <Words>1062</Words>
  <Application>Microsoft Macintosh PowerPoint</Application>
  <PresentationFormat>Custom</PresentationFormat>
  <Paragraphs>83</Paragraphs>
  <Slides>5</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vt:i4>
      </vt:variant>
    </vt:vector>
  </HeadingPairs>
  <TitlesOfParts>
    <vt:vector size="14" baseType="lpstr">
      <vt:lpstr>Aptos</vt:lpstr>
      <vt:lpstr>Arial</vt:lpstr>
      <vt:lpstr>Arial Black</vt:lpstr>
      <vt:lpstr>Arial Narrow</vt:lpstr>
      <vt:lpstr>Calibri</vt:lpstr>
      <vt:lpstr>Comic Sans MS</vt:lpstr>
      <vt:lpstr>Georgia</vt:lpstr>
      <vt:lpstr>Times New Roman</vt:lpstr>
      <vt:lpstr>Office Theme</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Robinson, Adrian J</cp:lastModifiedBy>
  <cp:revision>16</cp:revision>
  <dcterms:created xsi:type="dcterms:W3CDTF">2013-01-27T09:14:16Z</dcterms:created>
  <dcterms:modified xsi:type="dcterms:W3CDTF">2026-10-02T17:55:22Z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5e1b534-098f-4ac8-9223-69712ddf82de_Enabled">
    <vt:lpwstr>true</vt:lpwstr>
  </property>
  <property fmtid="{D5CDD505-2E9C-101B-9397-08002B2CF9AE}" pid="3" name="MSIP_Label_55e1b534-098f-4ac8-9223-69712ddf82de_SetDate">
    <vt:lpwstr>2026-10-02T17:05:21Z</vt:lpwstr>
  </property>
  <property fmtid="{D5CDD505-2E9C-101B-9397-08002B2CF9AE}" pid="4" name="MSIP_Label_55e1b534-098f-4ac8-9223-69712ddf82de_Method">
    <vt:lpwstr>Standard</vt:lpwstr>
  </property>
  <property fmtid="{D5CDD505-2E9C-101B-9397-08002B2CF9AE}" pid="5" name="MSIP_Label_55e1b534-098f-4ac8-9223-69712ddf82de_Name">
    <vt:lpwstr>Public Document</vt:lpwstr>
  </property>
  <property fmtid="{D5CDD505-2E9C-101B-9397-08002B2CF9AE}" pid="6" name="MSIP_Label_55e1b534-098f-4ac8-9223-69712ddf82de_SiteId">
    <vt:lpwstr>c9ef029c-18cf-4016-86d3-93cf8e94ff94</vt:lpwstr>
  </property>
  <property fmtid="{D5CDD505-2E9C-101B-9397-08002B2CF9AE}" pid="7" name="MSIP_Label_55e1b534-098f-4ac8-9223-69712ddf82de_ActionId">
    <vt:lpwstr>4018da6b-39d2-47a4-be1e-090c4ca439f9</vt:lpwstr>
  </property>
  <property fmtid="{D5CDD505-2E9C-101B-9397-08002B2CF9AE}" pid="8" name="MSIP_Label_55e1b534-098f-4ac8-9223-69712ddf82de_ContentBits">
    <vt:lpwstr>0</vt:lpwstr>
  </property>
  <property fmtid="{D5CDD505-2E9C-101B-9397-08002B2CF9AE}" pid="9" name="MSIP_Label_55e1b534-098f-4ac8-9223-69712ddf82de_Tag">
    <vt:lpwstr>50, 3, 0, 1</vt:lpwstr>
  </property>
</Properties>
</file>