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0000" y="288000"/>
            <a:ext cx="6840000" cy="324000"/>
          </a:xfrm>
          <a:prstGeom prst="rect">
            <a:avLst/>
          </a:prstGeom>
          <a:noFill/>
        </p:spPr>
        <p:txBody>
          <a:bodyPr wrap="square" anchor="t" lIns="54000" rIns="54000" tIns="54000" bIns="54000">
            <a:spAutoFit/>
          </a:bodyPr>
          <a:lstStyle/>
          <a:p>
            <a:pPr algn="l"/>
            <a:r>
              <a:rPr sz="1500" b="1" i="0" u="none">
                <a:solidFill>
                  <a:srgbClr val="333333"/>
                </a:solidFill>
                <a:latin typeface="Georgia"/>
              </a:rPr>
              <a:t>Teaching That Lands: your feedback</a:t>
            </a:r>
          </a:p>
        </p:txBody>
      </p:sp>
      <p:sp>
        <p:nvSpPr>
          <p:cNvPr id="3" name="TextBox 2"/>
          <p:cNvSpPr txBox="1"/>
          <p:nvPr/>
        </p:nvSpPr>
        <p:spPr>
          <a:xfrm>
            <a:off x="360000" y="540000"/>
            <a:ext cx="6840000" cy="216000"/>
          </a:xfrm>
          <a:prstGeom prst="rect">
            <a:avLst/>
          </a:prstGeom>
          <a:noFill/>
        </p:spPr>
        <p:txBody>
          <a:bodyPr wrap="square" anchor="t" lIns="54000" rIns="54000" tIns="54000" bIns="54000">
            <a:spAutoFit/>
          </a:bodyPr>
          <a:lstStyle/>
          <a:p>
            <a:pPr algn="l"/>
            <a:r>
              <a:rPr sz="800" b="0" i="1" u="none">
                <a:solidFill>
                  <a:srgbClr val="6C6F85"/>
                </a:solidFill>
                <a:latin typeface="Aptos"/>
              </a:rPr>
              <a:t>Anonymous: please don't add your name. We type up the answers without anything identifying, keep them to improve the programme, report only group totals and shred the paper. About three minutes. (Grey labels: Kirkpatrick's levels, so this form is Day 3 in practice.)</a:t>
            </a:r>
          </a:p>
        </p:txBody>
      </p:sp>
      <p:sp>
        <p:nvSpPr>
          <p:cNvPr id="4" name="TextBox 3"/>
          <p:cNvSpPr txBox="1"/>
          <p:nvPr/>
        </p:nvSpPr>
        <p:spPr>
          <a:xfrm>
            <a:off x="360000" y="864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How happy were you with the sessions overall (organisation, room, pace)?  </a:t>
            </a:r>
            <a:r>
              <a:rPr sz="800" b="0" i="0" u="none">
                <a:solidFill>
                  <a:srgbClr val="999999"/>
                </a:solidFill>
                <a:latin typeface="Aptos"/>
              </a:rPr>
              <a:t>Level 1</a:t>
            </a:r>
          </a:p>
        </p:txBody>
      </p:sp>
      <p:sp>
        <p:nvSpPr>
          <p:cNvPr id="5" name="TextBox 4"/>
          <p:cNvSpPr txBox="1"/>
          <p:nvPr/>
        </p:nvSpPr>
        <p:spPr>
          <a:xfrm>
            <a:off x="504000" y="1116000"/>
            <a:ext cx="6696000" cy="216000"/>
          </a:xfrm>
          <a:prstGeom prst="rect">
            <a:avLst/>
          </a:prstGeom>
          <a:noFill/>
        </p:spPr>
        <p:txBody>
          <a:bodyPr wrap="square" anchor="t" lIns="54000" rIns="54000" tIns="54000" bIns="54000">
            <a:spAutoFit/>
          </a:bodyPr>
          <a:lstStyle/>
          <a:p>
            <a:pPr algn="l"/>
            <a:r>
              <a:rPr sz="1000" b="0" i="0" u="none">
                <a:solidFill>
                  <a:srgbClr val="333333"/>
                </a:solidFill>
                <a:latin typeface="Aptos"/>
              </a:rPr>
              <a:t>▢ 1   ▢ 2   ▢ 3   ▢ 4   ▢ 5      (1 = not at all, 5 = very)</a:t>
            </a:r>
          </a:p>
        </p:txBody>
      </p:sp>
      <p:sp>
        <p:nvSpPr>
          <p:cNvPr id="6" name="TextBox 5"/>
          <p:cNvSpPr txBox="1"/>
          <p:nvPr/>
        </p:nvSpPr>
        <p:spPr>
          <a:xfrm>
            <a:off x="360000" y="1548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What one thing would you change?  </a:t>
            </a:r>
            <a:r>
              <a:rPr sz="800" b="0" i="0" u="none">
                <a:solidFill>
                  <a:srgbClr val="999999"/>
                </a:solidFill>
                <a:latin typeface="Aptos"/>
              </a:rPr>
              <a:t>Level 1</a:t>
            </a:r>
          </a:p>
        </p:txBody>
      </p:sp>
      <p:cxnSp>
        <p:nvCxnSpPr>
          <p:cNvPr id="7" name="Connector 6"/>
          <p:cNvCxnSpPr/>
          <p:nvPr/>
        </p:nvCxnSpPr>
        <p:spPr>
          <a:xfrm>
            <a:off x="504000" y="2052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04000" y="2304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2448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What was the most useful thing you learned?  </a:t>
            </a:r>
            <a:r>
              <a:rPr sz="800" b="0" i="0" u="none">
                <a:solidFill>
                  <a:srgbClr val="999999"/>
                </a:solidFill>
                <a:latin typeface="Aptos"/>
              </a:rPr>
              <a:t>Level 2</a:t>
            </a:r>
          </a:p>
        </p:txBody>
      </p:sp>
      <p:cxnSp>
        <p:nvCxnSpPr>
          <p:cNvPr id="10" name="Connector 9"/>
          <p:cNvCxnSpPr/>
          <p:nvPr/>
        </p:nvCxnSpPr>
        <p:spPr>
          <a:xfrm>
            <a:off x="504000" y="2952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04000" y="3204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3348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What's the most useful change you could show someone you can do right now?  </a:t>
            </a:r>
            <a:r>
              <a:rPr sz="800" b="0" i="0" u="none">
                <a:solidFill>
                  <a:srgbClr val="999999"/>
                </a:solidFill>
                <a:latin typeface="Aptos"/>
              </a:rPr>
              <a:t>Level 3</a:t>
            </a:r>
          </a:p>
        </p:txBody>
      </p:sp>
      <p:cxnSp>
        <p:nvCxnSpPr>
          <p:cNvPr id="13" name="Connector 12"/>
          <p:cNvCxnSpPr/>
          <p:nvPr/>
        </p:nvCxnSpPr>
        <p:spPr>
          <a:xfrm>
            <a:off x="504000" y="3852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4000" y="4104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60000" y="4248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When you evaluate your own teaching and see a difference because of this, tell us: [facilitator email]  </a:t>
            </a:r>
            <a:r>
              <a:rPr sz="800" b="0" i="0" u="none">
                <a:solidFill>
                  <a:srgbClr val="999999"/>
                </a:solidFill>
                <a:latin typeface="Aptos"/>
              </a:rPr>
              <a:t>Level 4</a:t>
            </a:r>
          </a:p>
        </p:txBody>
      </p:sp>
      <p:sp>
        <p:nvSpPr>
          <p:cNvPr id="16" name="TextBox 15"/>
          <p:cNvSpPr txBox="1"/>
          <p:nvPr/>
        </p:nvSpPr>
        <p:spPr>
          <a:xfrm>
            <a:off x="360000" y="4644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Anything else you want to tell us? (optional)  </a:t>
            </a:r>
            <a:r>
              <a:rPr sz="800" b="0" i="0" u="none">
                <a:solidFill>
                  <a:srgbClr val="999999"/>
                </a:solidFill>
                <a:latin typeface="Aptos"/>
              </a:rPr>
              <a:t/>
            </a:r>
          </a:p>
        </p:txBody>
      </p:sp>
      <p:cxnSp>
        <p:nvCxnSpPr>
          <p:cNvPr id="17" name="Connector 16"/>
          <p:cNvCxnSpPr/>
          <p:nvPr/>
        </p:nvCxnSpPr>
        <p:spPr>
          <a:xfrm>
            <a:off x="504000" y="5148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5112000"/>
            <a:ext cx="6840000" cy="180000"/>
          </a:xfrm>
          <a:prstGeom prst="rect">
            <a:avLst/>
          </a:prstGeom>
          <a:noFill/>
        </p:spPr>
        <p:txBody>
          <a:bodyPr wrap="square" anchor="t" lIns="54000" rIns="54000" tIns="54000" bIns="54000">
            <a:spAutoFit/>
          </a:bodyPr>
          <a:lstStyle/>
          <a:p>
            <a:pPr algn="r"/>
            <a:r>
              <a:rPr sz="700" b="0" i="0" u="none">
                <a:solidFill>
                  <a:srgbClr val="999999"/>
                </a:solidFill>
                <a:latin typeface="Aptos"/>
              </a:rPr>
              <a:t>Teaching That Lands · CC BY 4.0</a:t>
            </a:r>
          </a:p>
        </p:txBody>
      </p:sp>
      <p:cxnSp>
        <p:nvCxnSpPr>
          <p:cNvPr id="19" name="Connector 18"/>
          <p:cNvCxnSpPr/>
          <p:nvPr/>
        </p:nvCxnSpPr>
        <p:spPr>
          <a:xfrm>
            <a:off x="180000" y="5400000"/>
            <a:ext cx="7200000" cy="0"/>
          </a:xfrm>
          <a:prstGeom prst="line">
            <a:avLst/>
          </a:prstGeom>
          <a:ln w="9525">
            <a:solidFill>
              <a:srgbClr val="999999"/>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5544000"/>
            <a:ext cx="6840000" cy="324000"/>
          </a:xfrm>
          <a:prstGeom prst="rect">
            <a:avLst/>
          </a:prstGeom>
          <a:noFill/>
        </p:spPr>
        <p:txBody>
          <a:bodyPr wrap="square" anchor="t" lIns="54000" rIns="54000" tIns="54000" bIns="54000">
            <a:spAutoFit/>
          </a:bodyPr>
          <a:lstStyle/>
          <a:p>
            <a:pPr algn="l"/>
            <a:r>
              <a:rPr sz="1500" b="1" i="0" u="none">
                <a:solidFill>
                  <a:srgbClr val="333333"/>
                </a:solidFill>
                <a:latin typeface="Georgia"/>
              </a:rPr>
              <a:t>Teaching That Lands: your feedback</a:t>
            </a:r>
          </a:p>
        </p:txBody>
      </p:sp>
      <p:sp>
        <p:nvSpPr>
          <p:cNvPr id="21" name="TextBox 20"/>
          <p:cNvSpPr txBox="1"/>
          <p:nvPr/>
        </p:nvSpPr>
        <p:spPr>
          <a:xfrm>
            <a:off x="360000" y="5796000"/>
            <a:ext cx="6840000" cy="216000"/>
          </a:xfrm>
          <a:prstGeom prst="rect">
            <a:avLst/>
          </a:prstGeom>
          <a:noFill/>
        </p:spPr>
        <p:txBody>
          <a:bodyPr wrap="square" anchor="t" lIns="54000" rIns="54000" tIns="54000" bIns="54000">
            <a:spAutoFit/>
          </a:bodyPr>
          <a:lstStyle/>
          <a:p>
            <a:pPr algn="l"/>
            <a:r>
              <a:rPr sz="800" b="0" i="1" u="none">
                <a:solidFill>
                  <a:srgbClr val="6C6F85"/>
                </a:solidFill>
                <a:latin typeface="Aptos"/>
              </a:rPr>
              <a:t>Anonymous: please don't add your name. We type up the answers without anything identifying, keep them to improve the programme, report only group totals and shred the paper. About three minutes. (Grey labels: Kirkpatrick's levels, so this form is Day 3 in practice.)</a:t>
            </a:r>
          </a:p>
        </p:txBody>
      </p:sp>
      <p:sp>
        <p:nvSpPr>
          <p:cNvPr id="22" name="TextBox 21"/>
          <p:cNvSpPr txBox="1"/>
          <p:nvPr/>
        </p:nvSpPr>
        <p:spPr>
          <a:xfrm>
            <a:off x="360000" y="6120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How happy were you with the sessions overall (organisation, room, pace)?  </a:t>
            </a:r>
            <a:r>
              <a:rPr sz="800" b="0" i="0" u="none">
                <a:solidFill>
                  <a:srgbClr val="999999"/>
                </a:solidFill>
                <a:latin typeface="Aptos"/>
              </a:rPr>
              <a:t>Level 1</a:t>
            </a:r>
          </a:p>
        </p:txBody>
      </p:sp>
      <p:sp>
        <p:nvSpPr>
          <p:cNvPr id="23" name="TextBox 22"/>
          <p:cNvSpPr txBox="1"/>
          <p:nvPr/>
        </p:nvSpPr>
        <p:spPr>
          <a:xfrm>
            <a:off x="504000" y="6372000"/>
            <a:ext cx="6696000" cy="216000"/>
          </a:xfrm>
          <a:prstGeom prst="rect">
            <a:avLst/>
          </a:prstGeom>
          <a:noFill/>
        </p:spPr>
        <p:txBody>
          <a:bodyPr wrap="square" anchor="t" lIns="54000" rIns="54000" tIns="54000" bIns="54000">
            <a:spAutoFit/>
          </a:bodyPr>
          <a:lstStyle/>
          <a:p>
            <a:pPr algn="l"/>
            <a:r>
              <a:rPr sz="1000" b="0" i="0" u="none">
                <a:solidFill>
                  <a:srgbClr val="333333"/>
                </a:solidFill>
                <a:latin typeface="Aptos"/>
              </a:rPr>
              <a:t>▢ 1   ▢ 2   ▢ 3   ▢ 4   ▢ 5      (1 = not at all, 5 = very)</a:t>
            </a:r>
          </a:p>
        </p:txBody>
      </p:sp>
      <p:sp>
        <p:nvSpPr>
          <p:cNvPr id="24" name="TextBox 23"/>
          <p:cNvSpPr txBox="1"/>
          <p:nvPr/>
        </p:nvSpPr>
        <p:spPr>
          <a:xfrm>
            <a:off x="360000" y="6804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What one thing would you change?  </a:t>
            </a:r>
            <a:r>
              <a:rPr sz="800" b="0" i="0" u="none">
                <a:solidFill>
                  <a:srgbClr val="999999"/>
                </a:solidFill>
                <a:latin typeface="Aptos"/>
              </a:rPr>
              <a:t>Level 1</a:t>
            </a:r>
          </a:p>
        </p:txBody>
      </p:sp>
      <p:cxnSp>
        <p:nvCxnSpPr>
          <p:cNvPr id="25" name="Connector 24"/>
          <p:cNvCxnSpPr/>
          <p:nvPr/>
        </p:nvCxnSpPr>
        <p:spPr>
          <a:xfrm>
            <a:off x="504000" y="7308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04000" y="7560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7704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What was the most useful thing you learned?  </a:t>
            </a:r>
            <a:r>
              <a:rPr sz="800" b="0" i="0" u="none">
                <a:solidFill>
                  <a:srgbClr val="999999"/>
                </a:solidFill>
                <a:latin typeface="Aptos"/>
              </a:rPr>
              <a:t>Level 2</a:t>
            </a:r>
          </a:p>
        </p:txBody>
      </p:sp>
      <p:cxnSp>
        <p:nvCxnSpPr>
          <p:cNvPr id="28" name="Connector 27"/>
          <p:cNvCxnSpPr/>
          <p:nvPr/>
        </p:nvCxnSpPr>
        <p:spPr>
          <a:xfrm>
            <a:off x="504000" y="8208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4000" y="8460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0000" y="8604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What's the most useful change you could show someone you can do right now?  </a:t>
            </a:r>
            <a:r>
              <a:rPr sz="800" b="0" i="0" u="none">
                <a:solidFill>
                  <a:srgbClr val="999999"/>
                </a:solidFill>
                <a:latin typeface="Aptos"/>
              </a:rPr>
              <a:t>Level 3</a:t>
            </a:r>
          </a:p>
        </p:txBody>
      </p:sp>
      <p:cxnSp>
        <p:nvCxnSpPr>
          <p:cNvPr id="31" name="Connector 30"/>
          <p:cNvCxnSpPr/>
          <p:nvPr/>
        </p:nvCxnSpPr>
        <p:spPr>
          <a:xfrm>
            <a:off x="504000" y="9108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04000" y="9360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0000" y="9504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When you evaluate your own teaching and see a difference because of this, tell us: [facilitator email]  </a:t>
            </a:r>
            <a:r>
              <a:rPr sz="800" b="0" i="0" u="none">
                <a:solidFill>
                  <a:srgbClr val="999999"/>
                </a:solidFill>
                <a:latin typeface="Aptos"/>
              </a:rPr>
              <a:t>Level 4</a:t>
            </a:r>
          </a:p>
        </p:txBody>
      </p:sp>
      <p:sp>
        <p:nvSpPr>
          <p:cNvPr id="34" name="TextBox 33"/>
          <p:cNvSpPr txBox="1"/>
          <p:nvPr/>
        </p:nvSpPr>
        <p:spPr>
          <a:xfrm>
            <a:off x="360000" y="9900000"/>
            <a:ext cx="6840000" cy="252000"/>
          </a:xfrm>
          <a:prstGeom prst="rect">
            <a:avLst/>
          </a:prstGeom>
          <a:noFill/>
        </p:spPr>
        <p:txBody>
          <a:bodyPr wrap="square" anchor="t" lIns="54000" rIns="54000" tIns="54000" bIns="54000">
            <a:spAutoFit/>
          </a:bodyPr>
          <a:lstStyle/>
          <a:p>
            <a:pPr algn="l"/>
            <a:r>
              <a:rPr sz="1000" b="1" i="0" u="none">
                <a:solidFill>
                  <a:srgbClr val="333333"/>
                </a:solidFill>
                <a:latin typeface="Aptos"/>
              </a:rPr>
              <a:t>Anything else you want to tell us? (optional)  </a:t>
            </a:r>
            <a:r>
              <a:rPr sz="800" b="0" i="0" u="none">
                <a:solidFill>
                  <a:srgbClr val="999999"/>
                </a:solidFill>
                <a:latin typeface="Aptos"/>
              </a:rPr>
              <a:t/>
            </a:r>
          </a:p>
        </p:txBody>
      </p:sp>
      <p:cxnSp>
        <p:nvCxnSpPr>
          <p:cNvPr id="35" name="Connector 34"/>
          <p:cNvCxnSpPr/>
          <p:nvPr/>
        </p:nvCxnSpPr>
        <p:spPr>
          <a:xfrm>
            <a:off x="504000" y="10404000"/>
            <a:ext cx="6696000" cy="0"/>
          </a:xfrm>
          <a:prstGeom prst="line">
            <a:avLst/>
          </a:prstGeom>
          <a:ln w="6350">
            <a:solidFill>
              <a:srgbClr val="BBBBB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60000" y="10368000"/>
            <a:ext cx="6840000" cy="180000"/>
          </a:xfrm>
          <a:prstGeom prst="rect">
            <a:avLst/>
          </a:prstGeom>
          <a:noFill/>
        </p:spPr>
        <p:txBody>
          <a:bodyPr wrap="square" anchor="t" lIns="54000" rIns="54000" tIns="54000" bIns="54000">
            <a:spAutoFit/>
          </a:bodyPr>
          <a:lstStyle/>
          <a:p>
            <a:pPr algn="r"/>
            <a:r>
              <a:rPr sz="700" b="0" i="0" u="none">
                <a:solidFill>
                  <a:srgbClr val="999999"/>
                </a:solidFill>
                <a:latin typeface="Aptos"/>
              </a:rPr>
              <a:t>Teaching That Lands · CC BY 4.0</a:t>
            </a:r>
          </a:p>
        </p:txBody>
      </p:sp>
      <p:sp>
        <p:nvSpPr>
          <p:cNvPr id="5" name="TextBox 4"/>
          <p:cNvSpPr txBox="1"/>
          <p:nvPr/>
        </p:nvSpPr>
        <p:spPr>
          <a:xfrm>
            <a:off x="3960000" y="4644000"/>
            <a:ext cx="3240000" cy="252000"/>
          </a:xfrm>
          <a:prstGeom prst="rect">
            <a:avLst/>
          </a:prstGeom>
          <a:noFill/>
        </p:spPr>
        <p:txBody>
          <a:bodyPr wrap="square" anchor="t" lIns="54000" rIns="54000" tIns="54000" bIns="54000">
            <a:spAutoFit/>
          </a:bodyPr>
          <a:lstStyle/>
          <a:p>
            <a:pPr algn="r"/>
            <a:r>
              <a:rPr sz="900" b="0" i="0" u="none">
                <a:solidFill>
                  <a:srgbClr val="333333"/>
                </a:solidFill>
                <a:latin typeface="Aptos"/>
              </a:rPr>
              <a:t>▢  You can quote me (no name or workplace)</a:t>
            </a:r>
          </a:p>
        </p:txBody>
      </p:sp>
      <p:sp>
        <p:nvSpPr>
          <p:cNvPr id="5" name="TextBox 4"/>
          <p:cNvSpPr txBox="1"/>
          <p:nvPr/>
        </p:nvSpPr>
        <p:spPr>
          <a:xfrm>
            <a:off x="3960000" y="9900000"/>
            <a:ext cx="3240000" cy="252000"/>
          </a:xfrm>
          <a:prstGeom prst="rect">
            <a:avLst/>
          </a:prstGeom>
          <a:noFill/>
        </p:spPr>
        <p:txBody>
          <a:bodyPr wrap="square" anchor="t" lIns="54000" rIns="54000" tIns="54000" bIns="54000">
            <a:spAutoFit/>
          </a:bodyPr>
          <a:lstStyle/>
          <a:p>
            <a:pPr algn="r"/>
            <a:r>
              <a:rPr sz="900" b="0" i="0" u="none">
                <a:solidFill>
                  <a:srgbClr val="333333"/>
                </a:solidFill>
                <a:latin typeface="Aptos"/>
              </a:rPr>
              <a:t>▢  You can quote me (no name or workplace)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