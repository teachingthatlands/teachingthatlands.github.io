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7560000" cy="10692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8000" y="144000"/>
            <a:ext cx="3960000" cy="288000"/>
          </a:xfrm>
          <a:prstGeom prst="rect">
            <a:avLst/>
          </a:prstGeom>
          <a:noFill/>
        </p:spPr>
        <p:txBody>
          <a:bodyPr wrap="square" anchor="t" lIns="54000" rIns="54000" tIns="54000" bIns="54000">
            <a:spAutoFit/>
          </a:bodyPr>
          <a:lstStyle/>
          <a:p>
            <a:pPr algn="l"/>
            <a:r>
              <a:rPr sz="1000" b="1" i="0" u="none">
                <a:solidFill>
                  <a:srgbClr val="666666"/>
                </a:solidFill>
                <a:latin typeface="Aptos"/>
              </a:rPr>
              <a:t>Blorps and Fizzwicks · Version A</a:t>
            </a:r>
          </a:p>
        </p:txBody>
      </p:sp>
      <p:sp>
        <p:nvSpPr>
          <p:cNvPr id="3" name="TextBox 2"/>
          <p:cNvSpPr txBox="1"/>
          <p:nvPr/>
        </p:nvSpPr>
        <p:spPr>
          <a:xfrm>
            <a:off x="4248000" y="144000"/>
            <a:ext cx="3024000" cy="288000"/>
          </a:xfrm>
          <a:prstGeom prst="rect">
            <a:avLst/>
          </a:prstGeom>
          <a:noFill/>
        </p:spPr>
        <p:txBody>
          <a:bodyPr wrap="square" anchor="t" lIns="54000" rIns="54000" tIns="54000" bIns="54000">
            <a:spAutoFit/>
          </a:bodyPr>
          <a:lstStyle/>
          <a:p>
            <a:pPr algn="r"/>
            <a:r>
              <a:rPr sz="700" b="0" i="0" u="none">
                <a:solidFill>
                  <a:srgbClr val="888888"/>
                </a:solidFill>
                <a:latin typeface="Aptos"/>
              </a:rPr>
              <a:t>Teaching That Lands · CC BY 4.0</a:t>
            </a:r>
          </a:p>
        </p:txBody>
      </p:sp>
      <p:sp>
        <p:nvSpPr>
          <p:cNvPr id="4" name="TextBox 3"/>
          <p:cNvSpPr txBox="1"/>
          <p:nvPr/>
        </p:nvSpPr>
        <p:spPr>
          <a:xfrm>
            <a:off x="432000" y="576000"/>
            <a:ext cx="6696000" cy="432000"/>
          </a:xfrm>
          <a:prstGeom prst="rect">
            <a:avLst/>
          </a:prstGeom>
          <a:noFill/>
        </p:spPr>
        <p:txBody>
          <a:bodyPr wrap="square" anchor="t" lIns="54000" rIns="54000" tIns="54000" bIns="54000">
            <a:spAutoFit/>
          </a:bodyPr>
          <a:lstStyle/>
          <a:p>
            <a:pPr algn="l"/>
            <a:r>
              <a:rPr sz="2600" b="1" i="0" u="none">
                <a:solidFill>
                  <a:srgbClr val="333333"/>
                </a:solidFill>
                <a:latin typeface="Georgia"/>
              </a:rPr>
              <a:t>Eight important terms</a:t>
            </a:r>
          </a:p>
        </p:txBody>
      </p:sp>
      <p:sp>
        <p:nvSpPr>
          <p:cNvPr id="5" name="Rectangle 4"/>
          <p:cNvSpPr/>
          <p:nvPr/>
        </p:nvSpPr>
        <p:spPr>
          <a:xfrm>
            <a:off x="432000" y="1152000"/>
            <a:ext cx="6696000" cy="1080000"/>
          </a:xfrm>
          <a:prstGeom prst="rect">
            <a:avLst/>
          </a:prstGeom>
          <a:solidFill>
            <a:srgbClr val="F7E1D3"/>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l"/>
            <a:r>
              <a:rPr sz="1400" b="1" i="0" u="none">
                <a:solidFill>
                  <a:srgbClr val="B24101"/>
                </a:solidFill>
                <a:latin typeface="Aptos"/>
              </a:rPr>
              <a:t>Group A.  </a:t>
            </a:r>
            <a:r>
              <a:rPr sz="1300" b="0" i="0" u="none">
                <a:solidFill>
                  <a:srgbClr val="333333"/>
                </a:solidFill>
                <a:latin typeface="Aptos"/>
              </a:rPr>
              <a:t>You have 3 minutes. Read the list. Then read it again. Keep reading it until the time's up.</a:t>
            </a:r>
          </a:p>
        </p:txBody>
      </p:sp>
      <p:sp>
        <p:nvSpPr>
          <p:cNvPr id="6" name="TextBox 5"/>
          <p:cNvSpPr txBox="1"/>
          <p:nvPr/>
        </p:nvSpPr>
        <p:spPr>
          <a:xfrm>
            <a:off x="432000" y="2736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blorp</a:t>
            </a:r>
          </a:p>
        </p:txBody>
      </p:sp>
      <p:sp>
        <p:nvSpPr>
          <p:cNvPr id="7" name="TextBox 6"/>
          <p:cNvSpPr txBox="1"/>
          <p:nvPr/>
        </p:nvSpPr>
        <p:spPr>
          <a:xfrm>
            <a:off x="3960000" y="2736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the chair in the relatives' room that's always broken</a:t>
            </a:r>
          </a:p>
        </p:txBody>
      </p:sp>
      <p:sp>
        <p:nvSpPr>
          <p:cNvPr id="8" name="TextBox 7"/>
          <p:cNvSpPr txBox="1"/>
          <p:nvPr/>
        </p:nvSpPr>
        <p:spPr>
          <a:xfrm>
            <a:off x="432000" y="3528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fizzwick</a:t>
            </a:r>
          </a:p>
        </p:txBody>
      </p:sp>
      <p:sp>
        <p:nvSpPr>
          <p:cNvPr id="9" name="TextBox 8"/>
          <p:cNvSpPr txBox="1"/>
          <p:nvPr/>
        </p:nvSpPr>
        <p:spPr>
          <a:xfrm>
            <a:off x="3960000" y="3528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pen that only works for the person who owns it</a:t>
            </a:r>
          </a:p>
        </p:txBody>
      </p:sp>
      <p:cxnSp>
        <p:nvCxnSpPr>
          <p:cNvPr id="10" name="Connector 9"/>
          <p:cNvCxnSpPr/>
          <p:nvPr/>
        </p:nvCxnSpPr>
        <p:spPr>
          <a:xfrm>
            <a:off x="432000" y="3528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2000" y="4320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gromble</a:t>
            </a:r>
          </a:p>
        </p:txBody>
      </p:sp>
      <p:sp>
        <p:nvSpPr>
          <p:cNvPr id="12" name="TextBox 11"/>
          <p:cNvSpPr txBox="1"/>
          <p:nvPr/>
        </p:nvSpPr>
        <p:spPr>
          <a:xfrm>
            <a:off x="3960000" y="4320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the noise the drug trolley makes on a Monday morning</a:t>
            </a:r>
          </a:p>
        </p:txBody>
      </p:sp>
      <p:cxnSp>
        <p:nvCxnSpPr>
          <p:cNvPr id="13" name="Connector 12"/>
          <p:cNvCxnSpPr/>
          <p:nvPr/>
        </p:nvCxnSpPr>
        <p:spPr>
          <a:xfrm>
            <a:off x="432000" y="4320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5112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snorkel-day</a:t>
            </a:r>
          </a:p>
        </p:txBody>
      </p:sp>
      <p:sp>
        <p:nvSpPr>
          <p:cNvPr id="15" name="TextBox 14"/>
          <p:cNvSpPr txBox="1"/>
          <p:nvPr/>
        </p:nvSpPr>
        <p:spPr>
          <a:xfrm>
            <a:off x="3960000" y="5112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shift where everyone's off sick except you</a:t>
            </a:r>
          </a:p>
        </p:txBody>
      </p:sp>
      <p:cxnSp>
        <p:nvCxnSpPr>
          <p:cNvPr id="16" name="Connector 15"/>
          <p:cNvCxnSpPr/>
          <p:nvPr/>
        </p:nvCxnSpPr>
        <p:spPr>
          <a:xfrm>
            <a:off x="432000" y="5112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5904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wuzzle</a:t>
            </a:r>
          </a:p>
        </p:txBody>
      </p:sp>
      <p:sp>
        <p:nvSpPr>
          <p:cNvPr id="18" name="TextBox 17"/>
          <p:cNvSpPr txBox="1"/>
          <p:nvPr/>
        </p:nvSpPr>
        <p:spPr>
          <a:xfrm>
            <a:off x="3960000" y="5904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tape that won't come off the roll</a:t>
            </a:r>
          </a:p>
        </p:txBody>
      </p:sp>
      <p:cxnSp>
        <p:nvCxnSpPr>
          <p:cNvPr id="19" name="Connector 18"/>
          <p:cNvCxnSpPr/>
          <p:nvPr/>
        </p:nvCxnSpPr>
        <p:spPr>
          <a:xfrm>
            <a:off x="432000" y="5904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32000" y="6696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plonk</a:t>
            </a:r>
          </a:p>
        </p:txBody>
      </p:sp>
      <p:sp>
        <p:nvSpPr>
          <p:cNvPr id="21" name="TextBox 20"/>
          <p:cNvSpPr txBox="1"/>
          <p:nvPr/>
        </p:nvSpPr>
        <p:spPr>
          <a:xfrm>
            <a:off x="3960000" y="6696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patient who's been “just about to go home” for six days</a:t>
            </a:r>
          </a:p>
        </p:txBody>
      </p:sp>
      <p:cxnSp>
        <p:nvCxnSpPr>
          <p:cNvPr id="22" name="Connector 21"/>
          <p:cNvCxnSpPr/>
          <p:nvPr/>
        </p:nvCxnSpPr>
        <p:spPr>
          <a:xfrm>
            <a:off x="432000" y="6696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7488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krimble</a:t>
            </a:r>
          </a:p>
        </p:txBody>
      </p:sp>
      <p:sp>
        <p:nvSpPr>
          <p:cNvPr id="24" name="TextBox 23"/>
          <p:cNvSpPr txBox="1"/>
          <p:nvPr/>
        </p:nvSpPr>
        <p:spPr>
          <a:xfrm>
            <a:off x="3960000" y="7488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the last biscuit nobody will take</a:t>
            </a:r>
          </a:p>
        </p:txBody>
      </p:sp>
      <p:cxnSp>
        <p:nvCxnSpPr>
          <p:cNvPr id="25" name="Connector 24"/>
          <p:cNvCxnSpPr/>
          <p:nvPr/>
        </p:nvCxnSpPr>
        <p:spPr>
          <a:xfrm>
            <a:off x="432000" y="7488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32000" y="8280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dribbet</a:t>
            </a:r>
          </a:p>
        </p:txBody>
      </p:sp>
      <p:sp>
        <p:nvSpPr>
          <p:cNvPr id="27" name="TextBox 26"/>
          <p:cNvSpPr txBox="1"/>
          <p:nvPr/>
        </p:nvSpPr>
        <p:spPr>
          <a:xfrm>
            <a:off x="3960000" y="8280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bleep that goes off the moment you sit down</a:t>
            </a:r>
          </a:p>
        </p:txBody>
      </p:sp>
      <p:cxnSp>
        <p:nvCxnSpPr>
          <p:cNvPr id="28" name="Connector 27"/>
          <p:cNvCxnSpPr/>
          <p:nvPr/>
        </p:nvCxnSpPr>
        <p:spPr>
          <a:xfrm>
            <a:off x="432000" y="8280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8000" y="144000"/>
            <a:ext cx="3960000" cy="288000"/>
          </a:xfrm>
          <a:prstGeom prst="rect">
            <a:avLst/>
          </a:prstGeom>
          <a:noFill/>
        </p:spPr>
        <p:txBody>
          <a:bodyPr wrap="square" anchor="t" lIns="54000" rIns="54000" tIns="54000" bIns="54000">
            <a:spAutoFit/>
          </a:bodyPr>
          <a:lstStyle/>
          <a:p>
            <a:pPr algn="l"/>
            <a:r>
              <a:rPr sz="1000" b="1" i="0" u="none">
                <a:solidFill>
                  <a:srgbClr val="666666"/>
                </a:solidFill>
                <a:latin typeface="Aptos"/>
              </a:rPr>
              <a:t>Blorps and Fizzwicks · Version B</a:t>
            </a:r>
          </a:p>
        </p:txBody>
      </p:sp>
      <p:sp>
        <p:nvSpPr>
          <p:cNvPr id="3" name="TextBox 2"/>
          <p:cNvSpPr txBox="1"/>
          <p:nvPr/>
        </p:nvSpPr>
        <p:spPr>
          <a:xfrm>
            <a:off x="4248000" y="144000"/>
            <a:ext cx="3024000" cy="288000"/>
          </a:xfrm>
          <a:prstGeom prst="rect">
            <a:avLst/>
          </a:prstGeom>
          <a:noFill/>
        </p:spPr>
        <p:txBody>
          <a:bodyPr wrap="square" anchor="t" lIns="54000" rIns="54000" tIns="54000" bIns="54000">
            <a:spAutoFit/>
          </a:bodyPr>
          <a:lstStyle/>
          <a:p>
            <a:pPr algn="r"/>
            <a:r>
              <a:rPr sz="700" b="0" i="0" u="none">
                <a:solidFill>
                  <a:srgbClr val="888888"/>
                </a:solidFill>
                <a:latin typeface="Aptos"/>
              </a:rPr>
              <a:t>Teaching That Lands · CC BY 4.0</a:t>
            </a:r>
          </a:p>
        </p:txBody>
      </p:sp>
      <p:sp>
        <p:nvSpPr>
          <p:cNvPr id="4" name="TextBox 3"/>
          <p:cNvSpPr txBox="1"/>
          <p:nvPr/>
        </p:nvSpPr>
        <p:spPr>
          <a:xfrm>
            <a:off x="432000" y="576000"/>
            <a:ext cx="6696000" cy="432000"/>
          </a:xfrm>
          <a:prstGeom prst="rect">
            <a:avLst/>
          </a:prstGeom>
          <a:noFill/>
        </p:spPr>
        <p:txBody>
          <a:bodyPr wrap="square" anchor="t" lIns="54000" rIns="54000" tIns="54000" bIns="54000">
            <a:spAutoFit/>
          </a:bodyPr>
          <a:lstStyle/>
          <a:p>
            <a:pPr algn="l"/>
            <a:r>
              <a:rPr sz="2600" b="1" i="0" u="none">
                <a:solidFill>
                  <a:srgbClr val="333333"/>
                </a:solidFill>
                <a:latin typeface="Georgia"/>
              </a:rPr>
              <a:t>Eight important terms</a:t>
            </a:r>
          </a:p>
        </p:txBody>
      </p:sp>
      <p:sp>
        <p:nvSpPr>
          <p:cNvPr id="5" name="Rectangle 4"/>
          <p:cNvSpPr/>
          <p:nvPr/>
        </p:nvSpPr>
        <p:spPr>
          <a:xfrm>
            <a:off x="432000" y="1152000"/>
            <a:ext cx="6696000" cy="1080000"/>
          </a:xfrm>
          <a:prstGeom prst="rect">
            <a:avLst/>
          </a:prstGeom>
          <a:solidFill>
            <a:srgbClr val="F7E1D3"/>
          </a:solid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l"/>
            <a:r>
              <a:rPr sz="1400" b="1" i="0" u="none">
                <a:solidFill>
                  <a:srgbClr val="B24101"/>
                </a:solidFill>
                <a:latin typeface="Aptos"/>
              </a:rPr>
              <a:t>Group B.  </a:t>
            </a:r>
            <a:r>
              <a:rPr sz="1300" b="0" i="0" u="none">
                <a:solidFill>
                  <a:srgbClr val="333333"/>
                </a:solidFill>
                <a:latin typeface="Aptos"/>
              </a:rPr>
              <a:t>You have 3 minutes. Read the list once. Then fold the right half back along the dotted line, so the meanings are hidden. Look at each word and say its meaning (out loud or in your head). Unfold and check. Fold again and repeat until the time's up.</a:t>
            </a:r>
          </a:p>
        </p:txBody>
      </p:sp>
      <p:sp>
        <p:nvSpPr>
          <p:cNvPr id="6" name="TextBox 5"/>
          <p:cNvSpPr txBox="1"/>
          <p:nvPr/>
        </p:nvSpPr>
        <p:spPr>
          <a:xfrm>
            <a:off x="432000" y="2736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blorp</a:t>
            </a:r>
          </a:p>
        </p:txBody>
      </p:sp>
      <p:sp>
        <p:nvSpPr>
          <p:cNvPr id="7" name="TextBox 6"/>
          <p:cNvSpPr txBox="1"/>
          <p:nvPr/>
        </p:nvSpPr>
        <p:spPr>
          <a:xfrm>
            <a:off x="3960000" y="2736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the chair in the relatives' room that's always broken</a:t>
            </a:r>
          </a:p>
        </p:txBody>
      </p:sp>
      <p:sp>
        <p:nvSpPr>
          <p:cNvPr id="8" name="TextBox 7"/>
          <p:cNvSpPr txBox="1"/>
          <p:nvPr/>
        </p:nvSpPr>
        <p:spPr>
          <a:xfrm>
            <a:off x="432000" y="3528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fizzwick</a:t>
            </a:r>
          </a:p>
        </p:txBody>
      </p:sp>
      <p:sp>
        <p:nvSpPr>
          <p:cNvPr id="9" name="TextBox 8"/>
          <p:cNvSpPr txBox="1"/>
          <p:nvPr/>
        </p:nvSpPr>
        <p:spPr>
          <a:xfrm>
            <a:off x="3960000" y="3528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pen that only works for the person who owns it</a:t>
            </a:r>
          </a:p>
        </p:txBody>
      </p:sp>
      <p:cxnSp>
        <p:nvCxnSpPr>
          <p:cNvPr id="10" name="Connector 9"/>
          <p:cNvCxnSpPr/>
          <p:nvPr/>
        </p:nvCxnSpPr>
        <p:spPr>
          <a:xfrm>
            <a:off x="432000" y="3528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432000" y="4320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gromble</a:t>
            </a:r>
          </a:p>
        </p:txBody>
      </p:sp>
      <p:sp>
        <p:nvSpPr>
          <p:cNvPr id="12" name="TextBox 11"/>
          <p:cNvSpPr txBox="1"/>
          <p:nvPr/>
        </p:nvSpPr>
        <p:spPr>
          <a:xfrm>
            <a:off x="3960000" y="4320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the noise the drug trolley makes on a Monday morning</a:t>
            </a:r>
          </a:p>
        </p:txBody>
      </p:sp>
      <p:cxnSp>
        <p:nvCxnSpPr>
          <p:cNvPr id="13" name="Connector 12"/>
          <p:cNvCxnSpPr/>
          <p:nvPr/>
        </p:nvCxnSpPr>
        <p:spPr>
          <a:xfrm>
            <a:off x="432000" y="4320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432000" y="5112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snorkel-day</a:t>
            </a:r>
          </a:p>
        </p:txBody>
      </p:sp>
      <p:sp>
        <p:nvSpPr>
          <p:cNvPr id="15" name="TextBox 14"/>
          <p:cNvSpPr txBox="1"/>
          <p:nvPr/>
        </p:nvSpPr>
        <p:spPr>
          <a:xfrm>
            <a:off x="3960000" y="5112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shift where everyone's off sick except you</a:t>
            </a:r>
          </a:p>
        </p:txBody>
      </p:sp>
      <p:cxnSp>
        <p:nvCxnSpPr>
          <p:cNvPr id="16" name="Connector 15"/>
          <p:cNvCxnSpPr/>
          <p:nvPr/>
        </p:nvCxnSpPr>
        <p:spPr>
          <a:xfrm>
            <a:off x="432000" y="5112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17" name="TextBox 16"/>
          <p:cNvSpPr txBox="1"/>
          <p:nvPr/>
        </p:nvSpPr>
        <p:spPr>
          <a:xfrm>
            <a:off x="432000" y="5904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wuzzle</a:t>
            </a:r>
          </a:p>
        </p:txBody>
      </p:sp>
      <p:sp>
        <p:nvSpPr>
          <p:cNvPr id="18" name="TextBox 17"/>
          <p:cNvSpPr txBox="1"/>
          <p:nvPr/>
        </p:nvSpPr>
        <p:spPr>
          <a:xfrm>
            <a:off x="3960000" y="5904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tape that won't come off the roll</a:t>
            </a:r>
          </a:p>
        </p:txBody>
      </p:sp>
      <p:cxnSp>
        <p:nvCxnSpPr>
          <p:cNvPr id="19" name="Connector 18"/>
          <p:cNvCxnSpPr/>
          <p:nvPr/>
        </p:nvCxnSpPr>
        <p:spPr>
          <a:xfrm>
            <a:off x="432000" y="5904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432000" y="6696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plonk</a:t>
            </a:r>
          </a:p>
        </p:txBody>
      </p:sp>
      <p:sp>
        <p:nvSpPr>
          <p:cNvPr id="21" name="TextBox 20"/>
          <p:cNvSpPr txBox="1"/>
          <p:nvPr/>
        </p:nvSpPr>
        <p:spPr>
          <a:xfrm>
            <a:off x="3960000" y="6696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patient who's been “just about to go home” for six days</a:t>
            </a:r>
          </a:p>
        </p:txBody>
      </p:sp>
      <p:cxnSp>
        <p:nvCxnSpPr>
          <p:cNvPr id="22" name="Connector 21"/>
          <p:cNvCxnSpPr/>
          <p:nvPr/>
        </p:nvCxnSpPr>
        <p:spPr>
          <a:xfrm>
            <a:off x="432000" y="6696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3" name="TextBox 22"/>
          <p:cNvSpPr txBox="1"/>
          <p:nvPr/>
        </p:nvSpPr>
        <p:spPr>
          <a:xfrm>
            <a:off x="432000" y="7488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krimble</a:t>
            </a:r>
          </a:p>
        </p:txBody>
      </p:sp>
      <p:sp>
        <p:nvSpPr>
          <p:cNvPr id="24" name="TextBox 23"/>
          <p:cNvSpPr txBox="1"/>
          <p:nvPr/>
        </p:nvSpPr>
        <p:spPr>
          <a:xfrm>
            <a:off x="3960000" y="7488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the last biscuit nobody will take</a:t>
            </a:r>
          </a:p>
        </p:txBody>
      </p:sp>
      <p:cxnSp>
        <p:nvCxnSpPr>
          <p:cNvPr id="25" name="Connector 24"/>
          <p:cNvCxnSpPr/>
          <p:nvPr/>
        </p:nvCxnSpPr>
        <p:spPr>
          <a:xfrm>
            <a:off x="432000" y="7488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sp>
        <p:nvSpPr>
          <p:cNvPr id="26" name="TextBox 25"/>
          <p:cNvSpPr txBox="1"/>
          <p:nvPr/>
        </p:nvSpPr>
        <p:spPr>
          <a:xfrm>
            <a:off x="432000" y="8280000"/>
            <a:ext cx="3168000" cy="792000"/>
          </a:xfrm>
          <a:prstGeom prst="rect">
            <a:avLst/>
          </a:prstGeom>
          <a:noFill/>
        </p:spPr>
        <p:txBody>
          <a:bodyPr wrap="square" anchor="ctr" lIns="54000" rIns="54000" tIns="54000" bIns="54000">
            <a:spAutoFit/>
          </a:bodyPr>
          <a:lstStyle/>
          <a:p>
            <a:pPr algn="l"/>
            <a:r>
              <a:rPr sz="2200" b="1" i="0" u="none">
                <a:solidFill>
                  <a:srgbClr val="333333"/>
                </a:solidFill>
                <a:latin typeface="Georgia"/>
              </a:rPr>
              <a:t>dribbet</a:t>
            </a:r>
          </a:p>
        </p:txBody>
      </p:sp>
      <p:sp>
        <p:nvSpPr>
          <p:cNvPr id="27" name="TextBox 26"/>
          <p:cNvSpPr txBox="1"/>
          <p:nvPr/>
        </p:nvSpPr>
        <p:spPr>
          <a:xfrm>
            <a:off x="3960000" y="8280000"/>
            <a:ext cx="3240000" cy="792000"/>
          </a:xfrm>
          <a:prstGeom prst="rect">
            <a:avLst/>
          </a:prstGeom>
          <a:noFill/>
        </p:spPr>
        <p:txBody>
          <a:bodyPr wrap="square" anchor="ctr" lIns="54000" rIns="54000" tIns="54000" bIns="54000">
            <a:spAutoFit/>
          </a:bodyPr>
          <a:lstStyle/>
          <a:p>
            <a:pPr algn="l"/>
            <a:r>
              <a:rPr sz="1300" b="0" i="0" u="none">
                <a:solidFill>
                  <a:srgbClr val="333333"/>
                </a:solidFill>
                <a:latin typeface="Aptos"/>
              </a:rPr>
              <a:t>a bleep that goes off the moment you sit down</a:t>
            </a:r>
          </a:p>
        </p:txBody>
      </p:sp>
      <p:cxnSp>
        <p:nvCxnSpPr>
          <p:cNvPr id="28" name="Connector 27"/>
          <p:cNvCxnSpPr/>
          <p:nvPr/>
        </p:nvCxnSpPr>
        <p:spPr>
          <a:xfrm>
            <a:off x="432000" y="8280000"/>
            <a:ext cx="6768000" cy="0"/>
          </a:xfrm>
          <a:prstGeom prst="line">
            <a:avLst/>
          </a:prstGeom>
          <a:ln w="6350">
            <a:solidFill>
              <a:srgbClr val="DDDDDD"/>
            </a:solidFill>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3780000" y="2448000"/>
            <a:ext cx="0" cy="6768000"/>
          </a:xfrm>
          <a:prstGeom prst="line">
            <a:avLst/>
          </a:prstGeom>
          <a:ln w="19050">
            <a:solidFill>
              <a:srgbClr val="888888"/>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3060000" y="2232000"/>
            <a:ext cx="1440000" cy="216000"/>
          </a:xfrm>
          <a:prstGeom prst="rect">
            <a:avLst/>
          </a:prstGeom>
          <a:noFill/>
        </p:spPr>
        <p:txBody>
          <a:bodyPr wrap="square" anchor="t" lIns="54000" rIns="54000" tIns="54000" bIns="54000">
            <a:spAutoFit/>
          </a:bodyPr>
          <a:lstStyle/>
          <a:p>
            <a:pPr algn="ctr"/>
            <a:r>
              <a:rPr sz="900" b="0" i="1" u="none">
                <a:solidFill>
                  <a:srgbClr val="666666"/>
                </a:solidFill>
                <a:latin typeface="Aptos"/>
              </a:rPr>
              <a:t>fold here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8000" y="144000"/>
            <a:ext cx="3960000" cy="288000"/>
          </a:xfrm>
          <a:prstGeom prst="rect">
            <a:avLst/>
          </a:prstGeom>
          <a:noFill/>
        </p:spPr>
        <p:txBody>
          <a:bodyPr wrap="square" anchor="t" lIns="54000" rIns="54000" tIns="54000" bIns="54000">
            <a:spAutoFit/>
          </a:bodyPr>
          <a:lstStyle/>
          <a:p>
            <a:pPr algn="l"/>
            <a:r>
              <a:rPr sz="1000" b="1" i="0" u="none">
                <a:solidFill>
                  <a:srgbClr val="666666"/>
                </a:solidFill>
                <a:latin typeface="Aptos"/>
              </a:rPr>
              <a:t>Retest slips · two per page · print enough for today AND Day 3</a:t>
            </a:r>
          </a:p>
        </p:txBody>
      </p:sp>
      <p:sp>
        <p:nvSpPr>
          <p:cNvPr id="3" name="TextBox 2"/>
          <p:cNvSpPr txBox="1"/>
          <p:nvPr/>
        </p:nvSpPr>
        <p:spPr>
          <a:xfrm>
            <a:off x="4248000" y="144000"/>
            <a:ext cx="3024000" cy="288000"/>
          </a:xfrm>
          <a:prstGeom prst="rect">
            <a:avLst/>
          </a:prstGeom>
          <a:noFill/>
        </p:spPr>
        <p:txBody>
          <a:bodyPr wrap="square" anchor="t" lIns="54000" rIns="54000" tIns="54000" bIns="54000">
            <a:spAutoFit/>
          </a:bodyPr>
          <a:lstStyle/>
          <a:p>
            <a:pPr algn="r"/>
            <a:r>
              <a:rPr sz="700" b="0" i="0" u="none">
                <a:solidFill>
                  <a:srgbClr val="888888"/>
                </a:solidFill>
                <a:latin typeface="Aptos"/>
              </a:rPr>
              <a:t>Teaching That Lands · CC BY 4.0</a:t>
            </a:r>
          </a:p>
        </p:txBody>
      </p:sp>
      <p:sp>
        <p:nvSpPr>
          <p:cNvPr id="4" name="Rectangle 3"/>
          <p:cNvSpPr/>
          <p:nvPr/>
        </p:nvSpPr>
        <p:spPr>
          <a:xfrm>
            <a:off x="288000" y="432000"/>
            <a:ext cx="6984000" cy="489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04000" y="540000"/>
            <a:ext cx="6552000" cy="432000"/>
          </a:xfrm>
          <a:prstGeom prst="rect">
            <a:avLst/>
          </a:prstGeom>
          <a:noFill/>
        </p:spPr>
        <p:txBody>
          <a:bodyPr wrap="square" anchor="t" lIns="54000" rIns="54000" tIns="54000" bIns="54000">
            <a:spAutoFit/>
          </a:bodyPr>
          <a:lstStyle/>
          <a:p>
            <a:pPr algn="l"/>
            <a:r>
              <a:rPr sz="2200" b="1" i="0" u="none">
                <a:solidFill>
                  <a:srgbClr val="333333"/>
                </a:solidFill>
                <a:latin typeface="Georgia"/>
              </a:rPr>
              <a:t>Quick: what's a blorp?</a:t>
            </a:r>
          </a:p>
        </p:txBody>
      </p:sp>
      <p:sp>
        <p:nvSpPr>
          <p:cNvPr id="6" name="TextBox 5"/>
          <p:cNvSpPr txBox="1"/>
          <p:nvPr/>
        </p:nvSpPr>
        <p:spPr>
          <a:xfrm>
            <a:off x="504000" y="972000"/>
            <a:ext cx="6552000" cy="288000"/>
          </a:xfrm>
          <a:prstGeom prst="rect">
            <a:avLst/>
          </a:prstGeom>
          <a:noFill/>
        </p:spPr>
        <p:txBody>
          <a:bodyPr wrap="square" anchor="t" lIns="54000" rIns="54000" tIns="54000" bIns="54000">
            <a:spAutoFit/>
          </a:bodyPr>
          <a:lstStyle/>
          <a:p>
            <a:pPr algn="l"/>
            <a:r>
              <a:rPr sz="1200" b="0" i="1" u="none">
                <a:solidFill>
                  <a:srgbClr val="333333"/>
                </a:solidFill>
                <a:latin typeface="Aptos"/>
              </a:rPr>
              <a:t>Write what each word means. Rough is fine.</a:t>
            </a:r>
          </a:p>
        </p:txBody>
      </p:sp>
      <p:sp>
        <p:nvSpPr>
          <p:cNvPr id="7" name="TextBox 6"/>
          <p:cNvSpPr txBox="1"/>
          <p:nvPr/>
        </p:nvSpPr>
        <p:spPr>
          <a:xfrm>
            <a:off x="504000" y="1260000"/>
            <a:ext cx="6552000" cy="288000"/>
          </a:xfrm>
          <a:prstGeom prst="rect">
            <a:avLst/>
          </a:prstGeom>
          <a:noFill/>
        </p:spPr>
        <p:txBody>
          <a:bodyPr wrap="square" anchor="t" lIns="54000" rIns="54000" tIns="54000" bIns="54000">
            <a:spAutoFit/>
          </a:bodyPr>
          <a:lstStyle/>
          <a:p>
            <a:pPr algn="l"/>
            <a:r>
              <a:rPr sz="1100" b="0" i="0" u="none">
                <a:solidFill>
                  <a:srgbClr val="333333"/>
                </a:solidFill>
                <a:latin typeface="Aptos"/>
              </a:rPr>
              <a:t>Name: ______________________    Group:  A  /  B    Date: ____________</a:t>
            </a:r>
          </a:p>
        </p:txBody>
      </p:sp>
      <p:sp>
        <p:nvSpPr>
          <p:cNvPr id="8" name="TextBox 7"/>
          <p:cNvSpPr txBox="1"/>
          <p:nvPr/>
        </p:nvSpPr>
        <p:spPr>
          <a:xfrm>
            <a:off x="504000" y="165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gromble</a:t>
            </a:r>
          </a:p>
        </p:txBody>
      </p:sp>
      <p:cxnSp>
        <p:nvCxnSpPr>
          <p:cNvPr id="9" name="Connector 8"/>
          <p:cNvCxnSpPr/>
          <p:nvPr/>
        </p:nvCxnSpPr>
        <p:spPr>
          <a:xfrm>
            <a:off x="2016000" y="196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0" name="TextBox 9"/>
          <p:cNvSpPr txBox="1"/>
          <p:nvPr/>
        </p:nvSpPr>
        <p:spPr>
          <a:xfrm>
            <a:off x="504000" y="210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plonk</a:t>
            </a:r>
          </a:p>
        </p:txBody>
      </p:sp>
      <p:cxnSp>
        <p:nvCxnSpPr>
          <p:cNvPr id="11" name="Connector 10"/>
          <p:cNvCxnSpPr/>
          <p:nvPr/>
        </p:nvCxnSpPr>
        <p:spPr>
          <a:xfrm>
            <a:off x="2016000" y="241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2" name="TextBox 11"/>
          <p:cNvSpPr txBox="1"/>
          <p:nvPr/>
        </p:nvSpPr>
        <p:spPr>
          <a:xfrm>
            <a:off x="504000" y="255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blorp</a:t>
            </a:r>
          </a:p>
        </p:txBody>
      </p:sp>
      <p:cxnSp>
        <p:nvCxnSpPr>
          <p:cNvPr id="13" name="Connector 12"/>
          <p:cNvCxnSpPr/>
          <p:nvPr/>
        </p:nvCxnSpPr>
        <p:spPr>
          <a:xfrm>
            <a:off x="2016000" y="286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504000" y="300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dribbet</a:t>
            </a:r>
          </a:p>
        </p:txBody>
      </p:sp>
      <p:cxnSp>
        <p:nvCxnSpPr>
          <p:cNvPr id="15" name="Connector 14"/>
          <p:cNvCxnSpPr/>
          <p:nvPr/>
        </p:nvCxnSpPr>
        <p:spPr>
          <a:xfrm>
            <a:off x="2016000" y="331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504000" y="345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wuzzle</a:t>
            </a:r>
          </a:p>
        </p:txBody>
      </p:sp>
      <p:cxnSp>
        <p:nvCxnSpPr>
          <p:cNvPr id="17" name="Connector 16"/>
          <p:cNvCxnSpPr/>
          <p:nvPr/>
        </p:nvCxnSpPr>
        <p:spPr>
          <a:xfrm>
            <a:off x="2016000" y="376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18" name="TextBox 17"/>
          <p:cNvSpPr txBox="1"/>
          <p:nvPr/>
        </p:nvSpPr>
        <p:spPr>
          <a:xfrm>
            <a:off x="504000" y="390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krimble</a:t>
            </a:r>
          </a:p>
        </p:txBody>
      </p:sp>
      <p:cxnSp>
        <p:nvCxnSpPr>
          <p:cNvPr id="19" name="Connector 18"/>
          <p:cNvCxnSpPr/>
          <p:nvPr/>
        </p:nvCxnSpPr>
        <p:spPr>
          <a:xfrm>
            <a:off x="2016000" y="421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0" name="TextBox 19"/>
          <p:cNvSpPr txBox="1"/>
          <p:nvPr/>
        </p:nvSpPr>
        <p:spPr>
          <a:xfrm>
            <a:off x="504000" y="435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fizzwick</a:t>
            </a:r>
          </a:p>
        </p:txBody>
      </p:sp>
      <p:cxnSp>
        <p:nvCxnSpPr>
          <p:cNvPr id="21" name="Connector 20"/>
          <p:cNvCxnSpPr/>
          <p:nvPr/>
        </p:nvCxnSpPr>
        <p:spPr>
          <a:xfrm>
            <a:off x="2016000" y="466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04000" y="4806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snorkel-day</a:t>
            </a:r>
          </a:p>
        </p:txBody>
      </p:sp>
      <p:cxnSp>
        <p:nvCxnSpPr>
          <p:cNvPr id="23" name="Connector 22"/>
          <p:cNvCxnSpPr/>
          <p:nvPr/>
        </p:nvCxnSpPr>
        <p:spPr>
          <a:xfrm>
            <a:off x="2016000" y="5112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88000" y="5544000"/>
            <a:ext cx="6984000" cy="489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04000" y="5652000"/>
            <a:ext cx="6552000" cy="432000"/>
          </a:xfrm>
          <a:prstGeom prst="rect">
            <a:avLst/>
          </a:prstGeom>
          <a:noFill/>
        </p:spPr>
        <p:txBody>
          <a:bodyPr wrap="square" anchor="t" lIns="54000" rIns="54000" tIns="54000" bIns="54000">
            <a:spAutoFit/>
          </a:bodyPr>
          <a:lstStyle/>
          <a:p>
            <a:pPr algn="l"/>
            <a:r>
              <a:rPr sz="2200" b="1" i="0" u="none">
                <a:solidFill>
                  <a:srgbClr val="333333"/>
                </a:solidFill>
                <a:latin typeface="Georgia"/>
              </a:rPr>
              <a:t>Quick: what's a blorp?</a:t>
            </a:r>
          </a:p>
        </p:txBody>
      </p:sp>
      <p:sp>
        <p:nvSpPr>
          <p:cNvPr id="26" name="TextBox 25"/>
          <p:cNvSpPr txBox="1"/>
          <p:nvPr/>
        </p:nvSpPr>
        <p:spPr>
          <a:xfrm>
            <a:off x="504000" y="6084000"/>
            <a:ext cx="6552000" cy="288000"/>
          </a:xfrm>
          <a:prstGeom prst="rect">
            <a:avLst/>
          </a:prstGeom>
          <a:noFill/>
        </p:spPr>
        <p:txBody>
          <a:bodyPr wrap="square" anchor="t" lIns="54000" rIns="54000" tIns="54000" bIns="54000">
            <a:spAutoFit/>
          </a:bodyPr>
          <a:lstStyle/>
          <a:p>
            <a:pPr algn="l"/>
            <a:r>
              <a:rPr sz="1200" b="0" i="1" u="none">
                <a:solidFill>
                  <a:srgbClr val="333333"/>
                </a:solidFill>
                <a:latin typeface="Aptos"/>
              </a:rPr>
              <a:t>Write what each word means. Rough is fine.</a:t>
            </a:r>
          </a:p>
        </p:txBody>
      </p:sp>
      <p:sp>
        <p:nvSpPr>
          <p:cNvPr id="27" name="TextBox 26"/>
          <p:cNvSpPr txBox="1"/>
          <p:nvPr/>
        </p:nvSpPr>
        <p:spPr>
          <a:xfrm>
            <a:off x="504000" y="6372000"/>
            <a:ext cx="6552000" cy="288000"/>
          </a:xfrm>
          <a:prstGeom prst="rect">
            <a:avLst/>
          </a:prstGeom>
          <a:noFill/>
        </p:spPr>
        <p:txBody>
          <a:bodyPr wrap="square" anchor="t" lIns="54000" rIns="54000" tIns="54000" bIns="54000">
            <a:spAutoFit/>
          </a:bodyPr>
          <a:lstStyle/>
          <a:p>
            <a:pPr algn="l"/>
            <a:r>
              <a:rPr sz="1100" b="0" i="0" u="none">
                <a:solidFill>
                  <a:srgbClr val="333333"/>
                </a:solidFill>
                <a:latin typeface="Aptos"/>
              </a:rPr>
              <a:t>Name: ______________________    Group:  A  /  B    Date: ____________</a:t>
            </a:r>
          </a:p>
        </p:txBody>
      </p:sp>
      <p:sp>
        <p:nvSpPr>
          <p:cNvPr id="28" name="TextBox 27"/>
          <p:cNvSpPr txBox="1"/>
          <p:nvPr/>
        </p:nvSpPr>
        <p:spPr>
          <a:xfrm>
            <a:off x="504000" y="676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gromble</a:t>
            </a:r>
          </a:p>
        </p:txBody>
      </p:sp>
      <p:cxnSp>
        <p:nvCxnSpPr>
          <p:cNvPr id="29" name="Connector 28"/>
          <p:cNvCxnSpPr/>
          <p:nvPr/>
        </p:nvCxnSpPr>
        <p:spPr>
          <a:xfrm>
            <a:off x="2016000" y="707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504000" y="721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plonk</a:t>
            </a:r>
          </a:p>
        </p:txBody>
      </p:sp>
      <p:cxnSp>
        <p:nvCxnSpPr>
          <p:cNvPr id="31" name="Connector 30"/>
          <p:cNvCxnSpPr/>
          <p:nvPr/>
        </p:nvCxnSpPr>
        <p:spPr>
          <a:xfrm>
            <a:off x="2016000" y="752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2" name="TextBox 31"/>
          <p:cNvSpPr txBox="1"/>
          <p:nvPr/>
        </p:nvSpPr>
        <p:spPr>
          <a:xfrm>
            <a:off x="504000" y="766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blorp</a:t>
            </a:r>
          </a:p>
        </p:txBody>
      </p:sp>
      <p:cxnSp>
        <p:nvCxnSpPr>
          <p:cNvPr id="33" name="Connector 32"/>
          <p:cNvCxnSpPr/>
          <p:nvPr/>
        </p:nvCxnSpPr>
        <p:spPr>
          <a:xfrm>
            <a:off x="2016000" y="797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04000" y="811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dribbet</a:t>
            </a:r>
          </a:p>
        </p:txBody>
      </p:sp>
      <p:cxnSp>
        <p:nvCxnSpPr>
          <p:cNvPr id="35" name="Connector 34"/>
          <p:cNvCxnSpPr/>
          <p:nvPr/>
        </p:nvCxnSpPr>
        <p:spPr>
          <a:xfrm>
            <a:off x="2016000" y="842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04000" y="856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wuzzle</a:t>
            </a:r>
          </a:p>
        </p:txBody>
      </p:sp>
      <p:cxnSp>
        <p:nvCxnSpPr>
          <p:cNvPr id="37" name="Connector 36"/>
          <p:cNvCxnSpPr/>
          <p:nvPr/>
        </p:nvCxnSpPr>
        <p:spPr>
          <a:xfrm>
            <a:off x="2016000" y="887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04000" y="901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krimble</a:t>
            </a:r>
          </a:p>
        </p:txBody>
      </p:sp>
      <p:cxnSp>
        <p:nvCxnSpPr>
          <p:cNvPr id="39" name="Connector 38"/>
          <p:cNvCxnSpPr/>
          <p:nvPr/>
        </p:nvCxnSpPr>
        <p:spPr>
          <a:xfrm>
            <a:off x="2016000" y="932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40" name="TextBox 39"/>
          <p:cNvSpPr txBox="1"/>
          <p:nvPr/>
        </p:nvSpPr>
        <p:spPr>
          <a:xfrm>
            <a:off x="504000" y="946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fizzwick</a:t>
            </a:r>
          </a:p>
        </p:txBody>
      </p:sp>
      <p:cxnSp>
        <p:nvCxnSpPr>
          <p:cNvPr id="41" name="Connector 40"/>
          <p:cNvCxnSpPr/>
          <p:nvPr/>
        </p:nvCxnSpPr>
        <p:spPr>
          <a:xfrm>
            <a:off x="2016000" y="977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
        <p:nvSpPr>
          <p:cNvPr id="42" name="TextBox 41"/>
          <p:cNvSpPr txBox="1"/>
          <p:nvPr/>
        </p:nvSpPr>
        <p:spPr>
          <a:xfrm>
            <a:off x="504000" y="9918000"/>
            <a:ext cx="1440000" cy="360000"/>
          </a:xfrm>
          <a:prstGeom prst="rect">
            <a:avLst/>
          </a:prstGeom>
          <a:noFill/>
        </p:spPr>
        <p:txBody>
          <a:bodyPr wrap="square" anchor="ctr" lIns="54000" rIns="54000" tIns="54000" bIns="54000">
            <a:spAutoFit/>
          </a:bodyPr>
          <a:lstStyle/>
          <a:p>
            <a:pPr algn="l"/>
            <a:r>
              <a:rPr sz="1500" b="1" i="0" u="none">
                <a:solidFill>
                  <a:srgbClr val="333333"/>
                </a:solidFill>
                <a:latin typeface="Georgia"/>
              </a:rPr>
              <a:t>snorkel-day</a:t>
            </a:r>
          </a:p>
        </p:txBody>
      </p:sp>
      <p:cxnSp>
        <p:nvCxnSpPr>
          <p:cNvPr id="43" name="Connector 42"/>
          <p:cNvCxnSpPr/>
          <p:nvPr/>
        </p:nvCxnSpPr>
        <p:spPr>
          <a:xfrm>
            <a:off x="2016000" y="10224000"/>
            <a:ext cx="5040000" cy="0"/>
          </a:xfrm>
          <a:prstGeom prst="line">
            <a:avLst/>
          </a:prstGeom>
          <a:ln w="9525">
            <a:solidFill>
              <a:srgbClr val="BBBBBB"/>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288000" y="144000"/>
            <a:ext cx="3960000" cy="288000"/>
          </a:xfrm>
          <a:prstGeom prst="rect">
            <a:avLst/>
          </a:prstGeom>
          <a:noFill/>
        </p:spPr>
        <p:txBody>
          <a:bodyPr wrap="square" anchor="t" lIns="54000" rIns="54000" tIns="54000" bIns="54000">
            <a:spAutoFit/>
          </a:bodyPr>
          <a:lstStyle/>
          <a:p>
            <a:pPr algn="l"/>
            <a:r>
              <a:rPr sz="1000" b="1" i="0" u="none">
                <a:solidFill>
                  <a:srgbClr val="666666"/>
                </a:solidFill>
                <a:latin typeface="Aptos"/>
              </a:rPr>
              <a:t>Facilitator only · answers and tally</a:t>
            </a:r>
          </a:p>
        </p:txBody>
      </p:sp>
      <p:sp>
        <p:nvSpPr>
          <p:cNvPr id="3" name="TextBox 2"/>
          <p:cNvSpPr txBox="1"/>
          <p:nvPr/>
        </p:nvSpPr>
        <p:spPr>
          <a:xfrm>
            <a:off x="4248000" y="144000"/>
            <a:ext cx="3024000" cy="288000"/>
          </a:xfrm>
          <a:prstGeom prst="rect">
            <a:avLst/>
          </a:prstGeom>
          <a:noFill/>
        </p:spPr>
        <p:txBody>
          <a:bodyPr wrap="square" anchor="t" lIns="54000" rIns="54000" tIns="54000" bIns="54000">
            <a:spAutoFit/>
          </a:bodyPr>
          <a:lstStyle/>
          <a:p>
            <a:pPr algn="r"/>
            <a:r>
              <a:rPr sz="700" b="0" i="0" u="none">
                <a:solidFill>
                  <a:srgbClr val="888888"/>
                </a:solidFill>
                <a:latin typeface="Aptos"/>
              </a:rPr>
              <a:t>Teaching That Lands · CC BY 4.0</a:t>
            </a:r>
          </a:p>
        </p:txBody>
      </p:sp>
      <p:sp>
        <p:nvSpPr>
          <p:cNvPr id="4" name="TextBox 3"/>
          <p:cNvSpPr txBox="1"/>
          <p:nvPr/>
        </p:nvSpPr>
        <p:spPr>
          <a:xfrm>
            <a:off x="432000" y="504000"/>
            <a:ext cx="6696000" cy="360000"/>
          </a:xfrm>
          <a:prstGeom prst="rect">
            <a:avLst/>
          </a:prstGeom>
          <a:noFill/>
        </p:spPr>
        <p:txBody>
          <a:bodyPr wrap="square" anchor="t" lIns="54000" rIns="54000" tIns="54000" bIns="54000">
            <a:spAutoFit/>
          </a:bodyPr>
          <a:lstStyle/>
          <a:p>
            <a:pPr algn="l"/>
            <a:r>
              <a:rPr sz="1800" b="1" i="0" u="none">
                <a:solidFill>
                  <a:srgbClr val="333333"/>
                </a:solidFill>
                <a:latin typeface="Georgia"/>
              </a:rPr>
              <a:t>Answers</a:t>
            </a:r>
          </a:p>
        </p:txBody>
      </p:sp>
      <p:sp>
        <p:nvSpPr>
          <p:cNvPr id="5" name="TextBox 4"/>
          <p:cNvSpPr txBox="1"/>
          <p:nvPr/>
        </p:nvSpPr>
        <p:spPr>
          <a:xfrm>
            <a:off x="432000" y="936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blorp: </a:t>
            </a:r>
            <a:r>
              <a:rPr sz="1200" b="0" i="0" u="none">
                <a:solidFill>
                  <a:srgbClr val="333333"/>
                </a:solidFill>
                <a:latin typeface="Aptos"/>
              </a:rPr>
              <a:t>the chair in the relatives' room that's always broken</a:t>
            </a:r>
          </a:p>
        </p:txBody>
      </p:sp>
      <p:sp>
        <p:nvSpPr>
          <p:cNvPr id="6" name="TextBox 5"/>
          <p:cNvSpPr txBox="1"/>
          <p:nvPr/>
        </p:nvSpPr>
        <p:spPr>
          <a:xfrm>
            <a:off x="432000" y="1242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fizzwick: </a:t>
            </a:r>
            <a:r>
              <a:rPr sz="1200" b="0" i="0" u="none">
                <a:solidFill>
                  <a:srgbClr val="333333"/>
                </a:solidFill>
                <a:latin typeface="Aptos"/>
              </a:rPr>
              <a:t>a pen that only works for the person who owns it</a:t>
            </a:r>
          </a:p>
        </p:txBody>
      </p:sp>
      <p:sp>
        <p:nvSpPr>
          <p:cNvPr id="7" name="TextBox 6"/>
          <p:cNvSpPr txBox="1"/>
          <p:nvPr/>
        </p:nvSpPr>
        <p:spPr>
          <a:xfrm>
            <a:off x="432000" y="1548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gromble: </a:t>
            </a:r>
            <a:r>
              <a:rPr sz="1200" b="0" i="0" u="none">
                <a:solidFill>
                  <a:srgbClr val="333333"/>
                </a:solidFill>
                <a:latin typeface="Aptos"/>
              </a:rPr>
              <a:t>the noise the drug trolley makes on a Monday morning</a:t>
            </a:r>
          </a:p>
        </p:txBody>
      </p:sp>
      <p:sp>
        <p:nvSpPr>
          <p:cNvPr id="8" name="TextBox 7"/>
          <p:cNvSpPr txBox="1"/>
          <p:nvPr/>
        </p:nvSpPr>
        <p:spPr>
          <a:xfrm>
            <a:off x="432000" y="1854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snorkel-day: </a:t>
            </a:r>
            <a:r>
              <a:rPr sz="1200" b="0" i="0" u="none">
                <a:solidFill>
                  <a:srgbClr val="333333"/>
                </a:solidFill>
                <a:latin typeface="Aptos"/>
              </a:rPr>
              <a:t>a shift where everyone's off sick except you</a:t>
            </a:r>
          </a:p>
        </p:txBody>
      </p:sp>
      <p:sp>
        <p:nvSpPr>
          <p:cNvPr id="9" name="TextBox 8"/>
          <p:cNvSpPr txBox="1"/>
          <p:nvPr/>
        </p:nvSpPr>
        <p:spPr>
          <a:xfrm>
            <a:off x="432000" y="2160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wuzzle: </a:t>
            </a:r>
            <a:r>
              <a:rPr sz="1200" b="0" i="0" u="none">
                <a:solidFill>
                  <a:srgbClr val="333333"/>
                </a:solidFill>
                <a:latin typeface="Aptos"/>
              </a:rPr>
              <a:t>tape that won't come off the roll</a:t>
            </a:r>
          </a:p>
        </p:txBody>
      </p:sp>
      <p:sp>
        <p:nvSpPr>
          <p:cNvPr id="10" name="TextBox 9"/>
          <p:cNvSpPr txBox="1"/>
          <p:nvPr/>
        </p:nvSpPr>
        <p:spPr>
          <a:xfrm>
            <a:off x="432000" y="2466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plonk: </a:t>
            </a:r>
            <a:r>
              <a:rPr sz="1200" b="0" i="0" u="none">
                <a:solidFill>
                  <a:srgbClr val="333333"/>
                </a:solidFill>
                <a:latin typeface="Aptos"/>
              </a:rPr>
              <a:t>a patient who's been “just about to go home” for six days</a:t>
            </a:r>
          </a:p>
        </p:txBody>
      </p:sp>
      <p:sp>
        <p:nvSpPr>
          <p:cNvPr id="11" name="TextBox 10"/>
          <p:cNvSpPr txBox="1"/>
          <p:nvPr/>
        </p:nvSpPr>
        <p:spPr>
          <a:xfrm>
            <a:off x="432000" y="2772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krimble: </a:t>
            </a:r>
            <a:r>
              <a:rPr sz="1200" b="0" i="0" u="none">
                <a:solidFill>
                  <a:srgbClr val="333333"/>
                </a:solidFill>
                <a:latin typeface="Aptos"/>
              </a:rPr>
              <a:t>the last biscuit nobody will take</a:t>
            </a:r>
          </a:p>
        </p:txBody>
      </p:sp>
      <p:sp>
        <p:nvSpPr>
          <p:cNvPr id="12" name="TextBox 11"/>
          <p:cNvSpPr txBox="1"/>
          <p:nvPr/>
        </p:nvSpPr>
        <p:spPr>
          <a:xfrm>
            <a:off x="432000" y="3078000"/>
            <a:ext cx="6696000" cy="288000"/>
          </a:xfrm>
          <a:prstGeom prst="rect">
            <a:avLst/>
          </a:prstGeom>
          <a:noFill/>
        </p:spPr>
        <p:txBody>
          <a:bodyPr wrap="square" anchor="t" lIns="54000" rIns="54000" tIns="54000" bIns="54000">
            <a:spAutoFit/>
          </a:bodyPr>
          <a:lstStyle/>
          <a:p>
            <a:pPr algn="l"/>
            <a:r>
              <a:rPr sz="1200" b="1" i="0" u="none">
                <a:solidFill>
                  <a:srgbClr val="333333"/>
                </a:solidFill>
                <a:latin typeface="Aptos"/>
              </a:rPr>
              <a:t>dribbet: </a:t>
            </a:r>
            <a:r>
              <a:rPr sz="1200" b="0" i="0" u="none">
                <a:solidFill>
                  <a:srgbClr val="333333"/>
                </a:solidFill>
                <a:latin typeface="Aptos"/>
              </a:rPr>
              <a:t>a bleep that goes off the moment you sit down</a:t>
            </a:r>
          </a:p>
        </p:txBody>
      </p:sp>
      <p:sp>
        <p:nvSpPr>
          <p:cNvPr id="13" name="TextBox 12"/>
          <p:cNvSpPr txBox="1"/>
          <p:nvPr/>
        </p:nvSpPr>
        <p:spPr>
          <a:xfrm>
            <a:off x="432000" y="3600000"/>
            <a:ext cx="6696000" cy="360000"/>
          </a:xfrm>
          <a:prstGeom prst="rect">
            <a:avLst/>
          </a:prstGeom>
          <a:noFill/>
        </p:spPr>
        <p:txBody>
          <a:bodyPr wrap="square" anchor="t" lIns="54000" rIns="54000" tIns="54000" bIns="54000">
            <a:spAutoFit/>
          </a:bodyPr>
          <a:lstStyle/>
          <a:p>
            <a:pPr algn="l"/>
            <a:r>
              <a:rPr sz="1800" b="1" i="0" u="none">
                <a:solidFill>
                  <a:srgbClr val="333333"/>
                </a:solidFill>
                <a:latin typeface="Georgia"/>
              </a:rPr>
              <a:t>Tally (average score out of 8)</a:t>
            </a:r>
          </a:p>
        </p:txBody>
      </p:sp>
      <p:sp>
        <p:nvSpPr>
          <p:cNvPr id="14" name="Rectangle 13"/>
          <p:cNvSpPr/>
          <p:nvPr/>
        </p:nvSpPr>
        <p:spPr>
          <a:xfrm>
            <a:off x="432000" y="4032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1" i="0" u="none">
                <a:solidFill>
                  <a:srgbClr val="333333"/>
                </a:solidFill>
                <a:latin typeface="Aptos"/>
              </a:rPr>
              <a:t/>
            </a:r>
          </a:p>
        </p:txBody>
      </p:sp>
      <p:sp>
        <p:nvSpPr>
          <p:cNvPr id="15" name="Rectangle 14"/>
          <p:cNvSpPr/>
          <p:nvPr/>
        </p:nvSpPr>
        <p:spPr>
          <a:xfrm>
            <a:off x="2664000" y="4032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1" i="0" u="none">
                <a:solidFill>
                  <a:srgbClr val="333333"/>
                </a:solidFill>
                <a:latin typeface="Aptos"/>
              </a:rPr>
              <a:t>Today (≈10 min)</a:t>
            </a:r>
          </a:p>
        </p:txBody>
      </p:sp>
      <p:sp>
        <p:nvSpPr>
          <p:cNvPr id="16" name="Rectangle 15"/>
          <p:cNvSpPr/>
          <p:nvPr/>
        </p:nvSpPr>
        <p:spPr>
          <a:xfrm>
            <a:off x="4896000" y="4032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1" i="0" u="none">
                <a:solidFill>
                  <a:srgbClr val="333333"/>
                </a:solidFill>
                <a:latin typeface="Aptos"/>
              </a:rPr>
              <a:t>Day 3 (a week)</a:t>
            </a:r>
          </a:p>
        </p:txBody>
      </p:sp>
      <p:sp>
        <p:nvSpPr>
          <p:cNvPr id="17" name="Rectangle 16"/>
          <p:cNvSpPr/>
          <p:nvPr/>
        </p:nvSpPr>
        <p:spPr>
          <a:xfrm>
            <a:off x="432000" y="4608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1" i="0" u="none">
                <a:solidFill>
                  <a:srgbClr val="333333"/>
                </a:solidFill>
                <a:latin typeface="Aptos"/>
              </a:rPr>
              <a:t>Group A: re-read</a:t>
            </a:r>
          </a:p>
        </p:txBody>
      </p:sp>
      <p:sp>
        <p:nvSpPr>
          <p:cNvPr id="18" name="Rectangle 17"/>
          <p:cNvSpPr/>
          <p:nvPr/>
        </p:nvSpPr>
        <p:spPr>
          <a:xfrm>
            <a:off x="2664000" y="4608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0" i="0" u="none">
                <a:solidFill>
                  <a:srgbClr val="333333"/>
                </a:solidFill>
                <a:latin typeface="Aptos"/>
              </a:rPr>
              <a:t/>
            </a:r>
          </a:p>
        </p:txBody>
      </p:sp>
      <p:sp>
        <p:nvSpPr>
          <p:cNvPr id="19" name="Rectangle 18"/>
          <p:cNvSpPr/>
          <p:nvPr/>
        </p:nvSpPr>
        <p:spPr>
          <a:xfrm>
            <a:off x="4896000" y="4608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0" i="0" u="none">
                <a:solidFill>
                  <a:srgbClr val="333333"/>
                </a:solidFill>
                <a:latin typeface="Aptos"/>
              </a:rPr>
              <a:t/>
            </a:r>
          </a:p>
        </p:txBody>
      </p:sp>
      <p:sp>
        <p:nvSpPr>
          <p:cNvPr id="20" name="Rectangle 19"/>
          <p:cNvSpPr/>
          <p:nvPr/>
        </p:nvSpPr>
        <p:spPr>
          <a:xfrm>
            <a:off x="432000" y="5184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1" i="0" u="none">
                <a:solidFill>
                  <a:srgbClr val="333333"/>
                </a:solidFill>
                <a:latin typeface="Aptos"/>
              </a:rPr>
              <a:t>Group B: self-test</a:t>
            </a:r>
          </a:p>
        </p:txBody>
      </p:sp>
      <p:sp>
        <p:nvSpPr>
          <p:cNvPr id="21" name="Rectangle 20"/>
          <p:cNvSpPr/>
          <p:nvPr/>
        </p:nvSpPr>
        <p:spPr>
          <a:xfrm>
            <a:off x="2664000" y="5184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0" i="0" u="none">
                <a:solidFill>
                  <a:srgbClr val="333333"/>
                </a:solidFill>
                <a:latin typeface="Aptos"/>
              </a:rPr>
              <a:t/>
            </a:r>
          </a:p>
        </p:txBody>
      </p:sp>
      <p:sp>
        <p:nvSpPr>
          <p:cNvPr id="22" name="Rectangle 21"/>
          <p:cNvSpPr/>
          <p:nvPr/>
        </p:nvSpPr>
        <p:spPr>
          <a:xfrm>
            <a:off x="4896000" y="5184000"/>
            <a:ext cx="2232000" cy="576000"/>
          </a:xfrm>
          <a:prstGeom prst="rect">
            <a:avLst/>
          </a:prstGeom>
          <a:noFill/>
          <a:ln w="9525">
            <a:solidFill>
              <a:srgbClr val="999999"/>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72000" rIns="72000" tIns="72000" bIns="72000"/>
          <a:lstStyle/>
          <a:p>
            <a:pPr algn="ctr"/>
            <a:r>
              <a:rPr sz="1200" b="0" i="0" u="none">
                <a:solidFill>
                  <a:srgbClr val="333333"/>
                </a:solidFill>
                <a:latin typeface="Aptos"/>
              </a:rPr>
              <a:t/>
            </a:r>
          </a:p>
        </p:txBody>
      </p:sp>
      <p:sp>
        <p:nvSpPr>
          <p:cNvPr id="23" name="TextBox 22"/>
          <p:cNvSpPr txBox="1"/>
          <p:nvPr/>
        </p:nvSpPr>
        <p:spPr>
          <a:xfrm>
            <a:off x="432000" y="5976000"/>
            <a:ext cx="6696000" cy="2160000"/>
          </a:xfrm>
          <a:prstGeom prst="rect">
            <a:avLst/>
          </a:prstGeom>
          <a:noFill/>
        </p:spPr>
        <p:txBody>
          <a:bodyPr wrap="square" anchor="t" lIns="54000" rIns="54000" tIns="54000" bIns="54000">
            <a:spAutoFit/>
          </a:bodyPr>
          <a:lstStyle/>
          <a:p>
            <a:pPr algn="l"/>
            <a:r>
              <a:rPr sz="1100" b="0" i="0" u="none">
                <a:solidFill>
                  <a:srgbClr val="333333"/>
                </a:solidFill>
                <a:latin typeface="Aptos"/>
              </a:rPr>
              <a:t>Score 1 per meaning that's roughly right (gist, not exact words).</a:t>
            </a:r>
          </a:p>
          <a:p>
            <a:pPr algn="l"/>
            <a:r>
              <a:rPr sz="1100" b="0" i="0" u="none">
                <a:solidFill>
                  <a:srgbClr val="333333"/>
                </a:solidFill>
                <a:latin typeface="Aptos"/>
              </a:rPr>
              <a:t>Expect either result today. Over ~10 minutes, re-reading often does as well as or better than self-testing. Over a week, self-testing usually holds up better (Roediger &amp; Karpicke 2006: re-study won at 5 minutes; testing won at 2 days and 1 week). Small groups are noisy: a demonstration, not a study.</a:t>
            </a:r>
          </a:p>
          <a:p>
            <a:pPr algn="l"/>
            <a:r>
              <a:rPr sz="1100" b="1" i="0" u="none">
                <a:solidFill>
                  <a:srgbClr val="333333"/>
                </a:solidFill>
                <a:latin typeface="Aptos"/>
              </a:rPr>
              <a:t>Keep the slips (names on) for Day 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