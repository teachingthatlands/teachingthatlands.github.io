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Delivered ≠ changed · sort 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32000"/>
            <a:ext cx="10116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2000" b="1" i="0" u="none">
                <a:solidFill>
                  <a:srgbClr val="333333"/>
                </a:solidFill>
                <a:latin typeface="Georgia"/>
              </a:rPr>
              <a:t>Where does each piece of evidence belong?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5040000"/>
            <a:ext cx="2448000" cy="216000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5112000"/>
            <a:ext cx="244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000" b="1" i="0" u="none">
                <a:solidFill>
                  <a:srgbClr val="333333"/>
                </a:solidFill>
                <a:latin typeface="Georgia"/>
              </a:rPr>
              <a:t>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5508000"/>
            <a:ext cx="2448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200" b="0" i="1" u="none">
                <a:solidFill>
                  <a:srgbClr val="6C6F85"/>
                </a:solidFill>
                <a:latin typeface="Aptos"/>
              </a:rPr>
              <a:t>it happened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4000" y="4140000"/>
            <a:ext cx="2448000" cy="3060000"/>
          </a:xfrm>
          <a:prstGeom prst="rect">
            <a:avLst/>
          </a:prstGeom>
          <a:solidFill>
            <a:srgbClr val="DC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4000" y="4212000"/>
            <a:ext cx="244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000" b="1" i="0" u="none">
                <a:solidFill>
                  <a:srgbClr val="333333"/>
                </a:solidFill>
                <a:latin typeface="Georgia"/>
              </a:rPr>
              <a:t>Produced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000" y="4608000"/>
            <a:ext cx="2448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200" b="0" i="1" u="none">
                <a:solidFill>
                  <a:srgbClr val="6C6F85"/>
                </a:solidFill>
                <a:latin typeface="Aptos"/>
              </a:rPr>
              <a:t>something was made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0" y="3240000"/>
            <a:ext cx="2448000" cy="3960000"/>
          </a:xfrm>
          <a:prstGeom prst="rect">
            <a:avLst/>
          </a:prstGeom>
          <a:solidFill>
            <a:srgbClr val="D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0" y="3312000"/>
            <a:ext cx="244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000" b="1" i="0" u="none">
                <a:solidFill>
                  <a:srgbClr val="333333"/>
                </a:solidFill>
                <a:latin typeface="Georgia"/>
              </a:rPr>
              <a:t>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3708000"/>
            <a:ext cx="2448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200" b="0" i="1" u="none">
                <a:solidFill>
                  <a:srgbClr val="6C6F85"/>
                </a:solidFill>
                <a:latin typeface="Aptos"/>
              </a:rPr>
              <a:t>people do it at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6000" y="2340000"/>
            <a:ext cx="2448000" cy="4860000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6000" y="2412000"/>
            <a:ext cx="244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000" b="1" i="0" u="none">
                <a:solidFill>
                  <a:srgbClr val="333333"/>
                </a:solidFill>
                <a:latin typeface="Georgia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6000" y="2808000"/>
            <a:ext cx="2448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200" b="0" i="1" u="none">
                <a:solidFill>
                  <a:srgbClr val="6C6F85"/>
                </a:solidFill>
                <a:latin typeface="Aptos"/>
              </a:rPr>
              <a:t>it made a 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1008000"/>
            <a:ext cx="7200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200" b="0" i="1" u="none">
                <a:solidFill>
                  <a:srgbClr val="6C6F85"/>
                </a:solidFill>
                <a:latin typeface="Aptos"/>
              </a:rPr>
              <a:t>→ more convincing evidence that something changed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Delivered ≠ changed · cards (cut out, shuffle)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Feedback forms: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4.8 out of 5 for “overall satisfaction”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6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0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“Observed doing it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on the ward at 30 days”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8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2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Attendance list: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48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Fewer falls in the area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six months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0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End-of-day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quiz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2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Certificates of attendance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for 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0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Audit at 60 days: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bedside checks recorded 41% → 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0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Photos from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all four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2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Confidence ratings: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3.1 before, 4.4 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0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Delivered ≠ changed · cards (cut out, shuffle)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The course post on the intranet: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112 likes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6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0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“The team now does the four checks”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(their manager, at 90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8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2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Delegate packs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handed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Patient survey: more say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“I knew how to call for help”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0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A handover checklist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redesigned on 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2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“The room was freezing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and I couldn't find the venue”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0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A peer watched two staff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teach the checks to a 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0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Flipchart photo of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eight commitments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2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Simulation:</a:t>
            </a:r>
          </a:p>
          <a:p>
            <a:pPr algn="ctr"/>
            <a:r>
              <a:rPr sz="1600" b="0" i="0" u="none">
                <a:solidFill>
                  <a:srgbClr val="333333"/>
                </a:solidFill>
                <a:latin typeface="Georgia"/>
              </a:rPr>
              <a:t>9 of 10 met the 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0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Delivered ≠ changed · how to play / facilitator (cut in half)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46000" y="432000"/>
            <a:ext cx="0" cy="6948000"/>
          </a:xfrm>
          <a:prstGeom prst="line">
            <a:avLst/>
          </a:prstGeom>
          <a:ln w="9525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8000" y="576000"/>
            <a:ext cx="4752000" cy="6624000"/>
          </a:xfrm>
          <a:prstGeom prst="rect">
            <a:avLst/>
          </a:prstGeom>
          <a:solidFill>
            <a:srgbClr val="F7E1D3"/>
          </a:solidFill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72000" bIns="72000"/>
          <a:lstStyle/>
          <a:p>
            <a:pPr algn="l"/>
            <a:r>
              <a:rPr sz="2000" b="1" i="0" u="none">
                <a:solidFill>
                  <a:srgbClr val="333333"/>
                </a:solidFill>
                <a:latin typeface="Georgia"/>
              </a:rPr>
              <a:t>How to play</a:t>
            </a:r>
          </a:p>
          <a:p>
            <a:pPr algn="l"/>
            <a:r>
              <a:rPr sz="1500" b="0" i="0" u="none">
                <a:solidFill>
                  <a:srgbClr val="333333"/>
                </a:solidFill>
                <a:latin typeface="Aptos"/>
              </a:rPr>
              <a:t>1. One set per table. Shuffle the cards and share them round.</a:t>
            </a:r>
          </a:p>
          <a:p>
            <a:pPr algn="l"/>
            <a:r>
              <a:rPr sz="1500" b="0" i="0" u="none">
                <a:solidFill>
                  <a:srgbClr val="333333"/>
                </a:solidFill>
                <a:latin typeface="Aptos"/>
              </a:rPr>
              <a:t>2. Read your card aloud and put it in a column: what does it actually show?</a:t>
            </a:r>
          </a:p>
          <a:p>
            <a:pPr algn="l"/>
            <a:r>
              <a:rPr sz="1500" b="0" i="0" u="none">
                <a:solidFill>
                  <a:srgbClr val="333333"/>
                </a:solidFill>
                <a:latin typeface="Aptos"/>
              </a:rPr>
              <a:t>3. Six minutes. Then: which columns did most of your cards land 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2000" y="576000"/>
            <a:ext cx="4752000" cy="66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600" b="1" i="0" u="none">
                <a:solidFill>
                  <a:srgbClr val="333333"/>
                </a:solidFill>
                <a:latin typeface="Georgia"/>
              </a:rPr>
              <a:t>Facilitator only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1. Attendance list: 48 staff: Delivered · none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2. Photos from all four days: Delivered · none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3. Delegate packs handed out: Delivered · none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4. Feedback forms: 4.8 out of 5 for “overall satisfaction”: Delivered · L1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5. “The room was freezing and I couldn't find the venue”: Delivered · L1 (its real use: fix the logistics)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6. Certificates of attendance for everyone: Delivered · none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7. The course post on the intranet: 112 likes: Delivered · none (popularity, not learning)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8. Flipchart photo of eight commitments: Produced · none yet: an intention, not a change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9. End-of-day quiz scores: Produced · L2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10. A handover checklist redesigned on day 3: Produced · L2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11. Confidence ratings: 3.1 before, 4.4 after: Produced · L1/L2 (self-rated confidence, not capability)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12. Simulation: 9 of 10 met the standard: Produced · L2 (shows how, in a controlled setting)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13. “Observed doing it on the ward at 30 days”: Implemented · L3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14. “The team now does the four checks” (their manager, at 90 days): Implemented · L3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15. Audit at 60 days: bedside checks recorded 41% → 78%: Implemented · L3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16. A peer watched two staff teach the checks to a student: Implemented · L3 (and spreading)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17. Fewer falls in the area six months later: Impact · L4 (hard to attribute)</a:t>
            </a:r>
          </a:p>
          <a:p>
            <a:pPr algn="l"/>
            <a:r>
              <a:rPr sz="900" b="0" i="0" u="none">
                <a:solidFill>
                  <a:srgbClr val="333333"/>
                </a:solidFill>
                <a:latin typeface="Aptos"/>
              </a:rPr>
              <a:t>18. Patient survey: more say “I knew how to call for help”: Impact · L4-ish (patient experience; hard to attribute)</a:t>
            </a:r>
          </a:p>
          <a:p>
            <a:pPr algn="l"/>
            <a:r>
              <a:rPr sz="900" b="0" i="1" u="none">
                <a:solidFill>
                  <a:srgbClr val="333333"/>
                </a:solidFill>
                <a:latin typeface="Aptos"/>
              </a:rPr>
              <a:t>Debrief: counts show it happened, not that anything changed. L1's real use: the cold room, the venue. Running what you made on the group this morning was use: Level 3-type evidence, inside the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