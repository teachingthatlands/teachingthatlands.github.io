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44000"/>
            <a:ext cx="7092000" cy="288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000" b="1" i="0" u="none">
                <a:solidFill>
                  <a:srgbClr val="666666"/>
                </a:solidFill>
                <a:latin typeface="Aptos"/>
              </a:rPr>
              <a:t>Can you see it? · mat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80000" y="144000"/>
            <a:ext cx="3024000" cy="288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700" b="0" i="0" u="none">
                <a:solidFill>
                  <a:srgbClr val="888888"/>
                </a:solidFill>
                <a:latin typeface="Aptos"/>
              </a:rPr>
              <a:t>Teaching That Lands · CC BY 4.0</a:t>
            </a:r>
          </a:p>
        </p:txBody>
      </p:sp>
      <p:sp>
        <p:nvSpPr>
          <p:cNvPr id="4" name="Rectangle 3"/>
          <p:cNvSpPr/>
          <p:nvPr/>
        </p:nvSpPr>
        <p:spPr>
          <a:xfrm>
            <a:off x="288000" y="504000"/>
            <a:ext cx="5004000" cy="6696000"/>
          </a:xfrm>
          <a:prstGeom prst="rect">
            <a:avLst/>
          </a:prstGeom>
          <a:solidFill>
            <a:srgbClr val="FFFFFF"/>
          </a:solidFill>
          <a:ln w="50800">
            <a:solidFill>
              <a:srgbClr val="2E7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720000"/>
            <a:ext cx="5004000" cy="864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ctr"/>
            <a:r>
              <a:rPr sz="4000" b="1" i="0" u="none">
                <a:solidFill>
                  <a:srgbClr val="2E741F"/>
                </a:solidFill>
                <a:latin typeface="Georgia"/>
              </a:rPr>
              <a:t>✓ Yes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1656000"/>
            <a:ext cx="5004000" cy="432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ctr"/>
            <a:r>
              <a:rPr sz="1600" b="0" i="1" u="none">
                <a:solidFill>
                  <a:srgbClr val="6C6F85"/>
                </a:solidFill>
                <a:latin typeface="Aptos"/>
              </a:rPr>
              <a:t>I could watch someone do this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0" y="504000"/>
            <a:ext cx="5004000" cy="6696000"/>
          </a:xfrm>
          <a:prstGeom prst="rect">
            <a:avLst/>
          </a:prstGeom>
          <a:solidFill>
            <a:srgbClr val="FFFFFF"/>
          </a:solidFill>
          <a:ln w="50800">
            <a:solidFill>
              <a:srgbClr val="CB0E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0000" y="720000"/>
            <a:ext cx="5004000" cy="864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ctr"/>
            <a:r>
              <a:rPr sz="4000" b="1" i="0" u="none">
                <a:solidFill>
                  <a:srgbClr val="CB0E37"/>
                </a:solidFill>
                <a:latin typeface="Georgia"/>
              </a:rPr>
              <a:t>✗ 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0" y="1656000"/>
            <a:ext cx="5004000" cy="432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ctr"/>
            <a:r>
              <a:rPr sz="1600" b="0" i="1" u="none">
                <a:solidFill>
                  <a:srgbClr val="6C6F85"/>
                </a:solidFill>
                <a:latin typeface="Aptos"/>
              </a:rPr>
              <a:t>I couldn't see it happen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44000"/>
            <a:ext cx="7092000" cy="288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000" b="1" i="0" u="none">
                <a:solidFill>
                  <a:srgbClr val="666666"/>
                </a:solidFill>
                <a:latin typeface="Aptos"/>
              </a:rPr>
              <a:t>Can you see it? · mat 2: Miller's pyramid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80000" y="144000"/>
            <a:ext cx="3024000" cy="288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700" b="0" i="0" u="none">
                <a:solidFill>
                  <a:srgbClr val="888888"/>
                </a:solidFill>
                <a:latin typeface="Aptos"/>
              </a:rPr>
              <a:t>Teaching That Lands · CC BY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432000"/>
            <a:ext cx="10116000" cy="432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2000" b="1" i="0" u="none">
                <a:solidFill>
                  <a:srgbClr val="333333"/>
                </a:solidFill>
                <a:latin typeface="Georgia"/>
              </a:rPr>
              <a:t>Put the “yes” verbs where you'd see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906000" y="1080000"/>
            <a:ext cx="2880000" cy="144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B241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78000" y="1152000"/>
            <a:ext cx="2160000" cy="360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600" b="1" i="0" u="none">
                <a:solidFill>
                  <a:srgbClr val="B24101"/>
                </a:solidFill>
                <a:latin typeface="Aptos"/>
              </a:rPr>
              <a:t>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8000" y="1440000"/>
            <a:ext cx="2520000" cy="288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000" b="0" i="1" u="none">
                <a:solidFill>
                  <a:srgbClr val="6C6F85"/>
                </a:solidFill>
                <a:latin typeface="Aptos"/>
              </a:rPr>
              <a:t>in real practice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2826000" y="2592000"/>
            <a:ext cx="5040000" cy="144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036D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98000" y="2664000"/>
            <a:ext cx="2160000" cy="360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600" b="1" i="0" u="none">
                <a:solidFill>
                  <a:srgbClr val="036D97"/>
                </a:solidFill>
                <a:latin typeface="Aptos"/>
              </a:rPr>
              <a:t>Shows how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8000" y="2952000"/>
            <a:ext cx="2520000" cy="288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000" b="0" i="1" u="none">
                <a:solidFill>
                  <a:srgbClr val="6C6F85"/>
                </a:solidFill>
                <a:latin typeface="Aptos"/>
              </a:rPr>
              <a:t>in a simulation or demonstration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46000" y="4104000"/>
            <a:ext cx="7200000" cy="144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314F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18000" y="4176000"/>
            <a:ext cx="2160000" cy="360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600" b="1" i="0" u="none">
                <a:solidFill>
                  <a:srgbClr val="314FFC"/>
                </a:solidFill>
                <a:latin typeface="Aptos"/>
              </a:rPr>
              <a:t>Knows how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8000" y="4464000"/>
            <a:ext cx="2520000" cy="288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000" b="0" i="1" u="none">
                <a:solidFill>
                  <a:srgbClr val="6C6F85"/>
                </a:solidFill>
                <a:latin typeface="Aptos"/>
              </a:rPr>
              <a:t>can explain how and why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6000" y="5616000"/>
            <a:ext cx="9360000" cy="144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6C6F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8000" y="5688000"/>
            <a:ext cx="2160000" cy="360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600" b="1" i="0" u="none">
                <a:solidFill>
                  <a:srgbClr val="6C6F85"/>
                </a:solidFill>
                <a:latin typeface="Aptos"/>
              </a:rPr>
              <a:t>Knows about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8000" y="5976000"/>
            <a:ext cx="2520000" cy="288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000" b="0" i="1" u="none">
                <a:solidFill>
                  <a:srgbClr val="6C6F85"/>
                </a:solidFill>
                <a:latin typeface="Aptos"/>
              </a:rPr>
              <a:t>can recall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00" y="7128000"/>
            <a:ext cx="10116000" cy="288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ctr"/>
            <a:r>
              <a:rPr sz="900" b="0" i="1" u="none">
                <a:solidFill>
                  <a:srgbClr val="6C6F85"/>
                </a:solidFill>
                <a:latin typeface="Aptos"/>
              </a:rPr>
              <a:t>Miller (1990). Below the pyramid: verbs you can't see, so you can't evidence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44000"/>
            <a:ext cx="7092000" cy="288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000" b="1" i="0" u="none">
                <a:solidFill>
                  <a:srgbClr val="666666"/>
                </a:solidFill>
                <a:latin typeface="Aptos"/>
              </a:rPr>
              <a:t>Can you see it? · verb cards (cut out, shuffle)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80000" y="144000"/>
            <a:ext cx="3024000" cy="288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700" b="0" i="0" u="none">
                <a:solidFill>
                  <a:srgbClr val="888888"/>
                </a:solidFill>
                <a:latin typeface="Aptos"/>
              </a:rPr>
              <a:t>Teaching That Lands · CC BY 4.0</a:t>
            </a:r>
          </a:p>
        </p:txBody>
      </p:sp>
      <p:sp>
        <p:nvSpPr>
          <p:cNvPr id="4" name="Rectangle 3"/>
          <p:cNvSpPr/>
          <p:nvPr/>
        </p:nvSpPr>
        <p:spPr>
          <a:xfrm>
            <a:off x="288000" y="504000"/>
            <a:ext cx="2376000" cy="1440000"/>
          </a:xfrm>
          <a:prstGeom prst="rect">
            <a:avLst/>
          </a:prstGeom>
          <a:noFill/>
          <a:ln w="9525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2200" b="0" i="0" u="none">
                <a:solidFill>
                  <a:srgbClr val="333333"/>
                </a:solidFill>
                <a:latin typeface="Georgia"/>
              </a:rPr>
              <a:t>be aware 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32000" y="1692000"/>
            <a:ext cx="396000" cy="21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800" b="0" i="0" u="none">
                <a:solidFill>
                  <a:srgbClr val="AAAAAA"/>
                </a:solidFill>
                <a:latin typeface="Aptos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2826000" y="504000"/>
            <a:ext cx="2376000" cy="1440000"/>
          </a:xfrm>
          <a:prstGeom prst="rect">
            <a:avLst/>
          </a:prstGeom>
          <a:noFill/>
          <a:ln w="9525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2200" b="0" i="0" u="none">
                <a:solidFill>
                  <a:srgbClr val="333333"/>
                </a:solidFill>
                <a:latin typeface="Georgia"/>
              </a:rPr>
              <a:t>calculate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70000" y="1692000"/>
            <a:ext cx="396000" cy="21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800" b="0" i="0" u="none">
                <a:solidFill>
                  <a:srgbClr val="AAAAAA"/>
                </a:solidFill>
                <a:latin typeface="Aptos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364000" y="504000"/>
            <a:ext cx="2376000" cy="1440000"/>
          </a:xfrm>
          <a:prstGeom prst="rect">
            <a:avLst/>
          </a:prstGeom>
          <a:noFill/>
          <a:ln w="9525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2200" b="0" i="0" u="none">
                <a:solidFill>
                  <a:srgbClr val="333333"/>
                </a:solidFill>
                <a:latin typeface="Georgia"/>
              </a:rPr>
              <a:t>know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08000" y="1692000"/>
            <a:ext cx="396000" cy="21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800" b="0" i="0" u="none">
                <a:solidFill>
                  <a:srgbClr val="AAAAAA"/>
                </a:solidFill>
                <a:latin typeface="Apto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02000" y="504000"/>
            <a:ext cx="2376000" cy="1440000"/>
          </a:xfrm>
          <a:prstGeom prst="rect">
            <a:avLst/>
          </a:prstGeom>
          <a:noFill/>
          <a:ln w="9525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2200" b="0" i="0" u="none">
                <a:solidFill>
                  <a:srgbClr val="333333"/>
                </a:solidFill>
                <a:latin typeface="Georgia"/>
              </a:rPr>
              <a:t>choose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46000" y="1692000"/>
            <a:ext cx="396000" cy="21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800" b="0" i="0" u="none">
                <a:solidFill>
                  <a:srgbClr val="AAAAAA"/>
                </a:solidFill>
                <a:latin typeface="Aptos"/>
              </a:rPr>
              <a:t>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2106000"/>
            <a:ext cx="2376000" cy="1440000"/>
          </a:xfrm>
          <a:prstGeom prst="rect">
            <a:avLst/>
          </a:prstGeom>
          <a:noFill/>
          <a:ln w="9525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2200" b="0" i="0" u="none">
                <a:solidFill>
                  <a:srgbClr val="333333"/>
                </a:solidFill>
                <a:latin typeface="Georgia"/>
              </a:rPr>
              <a:t>be familiar with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32000" y="3294000"/>
            <a:ext cx="396000" cy="21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800" b="0" i="0" u="none">
                <a:solidFill>
                  <a:srgbClr val="AAAAAA"/>
                </a:solidFill>
                <a:latin typeface="Aptos"/>
              </a:rPr>
              <a:t>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26000" y="2106000"/>
            <a:ext cx="2376000" cy="1440000"/>
          </a:xfrm>
          <a:prstGeom prst="rect">
            <a:avLst/>
          </a:prstGeom>
          <a:noFill/>
          <a:ln w="9525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2200" b="0" i="0" u="none">
                <a:solidFill>
                  <a:srgbClr val="333333"/>
                </a:solidFill>
                <a:latin typeface="Georgia"/>
              </a:rPr>
              <a:t>escalate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0000" y="3294000"/>
            <a:ext cx="396000" cy="21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800" b="0" i="0" u="none">
                <a:solidFill>
                  <a:srgbClr val="AAAAAA"/>
                </a:solidFill>
                <a:latin typeface="Aptos"/>
              </a:rPr>
              <a:t>15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64000" y="2106000"/>
            <a:ext cx="2376000" cy="1440000"/>
          </a:xfrm>
          <a:prstGeom prst="rect">
            <a:avLst/>
          </a:prstGeom>
          <a:noFill/>
          <a:ln w="9525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2200" b="0" i="0" u="none">
                <a:solidFill>
                  <a:srgbClr val="333333"/>
                </a:solidFill>
                <a:latin typeface="Georgia"/>
              </a:rPr>
              <a:t>explain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8000" y="3294000"/>
            <a:ext cx="396000" cy="21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800" b="0" i="0" u="none">
                <a:solidFill>
                  <a:srgbClr val="AAAAAA"/>
                </a:solidFill>
                <a:latin typeface="Aptos"/>
              </a:rPr>
              <a:t>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02000" y="2106000"/>
            <a:ext cx="2376000" cy="1440000"/>
          </a:xfrm>
          <a:prstGeom prst="rect">
            <a:avLst/>
          </a:prstGeom>
          <a:noFill/>
          <a:ln w="9525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2200" b="0" i="0" u="none">
                <a:solidFill>
                  <a:srgbClr val="333333"/>
                </a:solidFill>
                <a:latin typeface="Georgia"/>
              </a:rPr>
              <a:t>understand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46000" y="3294000"/>
            <a:ext cx="396000" cy="21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800" b="0" i="0" u="none">
                <a:solidFill>
                  <a:srgbClr val="AAAAAA"/>
                </a:solidFill>
                <a:latin typeface="Aptos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8000" y="3708000"/>
            <a:ext cx="2376000" cy="1440000"/>
          </a:xfrm>
          <a:prstGeom prst="rect">
            <a:avLst/>
          </a:prstGeom>
          <a:noFill/>
          <a:ln w="9525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2200" b="0" i="0" u="none">
                <a:solidFill>
                  <a:srgbClr val="333333"/>
                </a:solidFill>
                <a:latin typeface="Georgia"/>
              </a:rPr>
              <a:t>teach 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32000" y="4896000"/>
            <a:ext cx="396000" cy="21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800" b="0" i="0" u="none">
                <a:solidFill>
                  <a:srgbClr val="AAAAAA"/>
                </a:solidFill>
                <a:latin typeface="Aptos"/>
              </a:rPr>
              <a:t>12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26000" y="3708000"/>
            <a:ext cx="2376000" cy="1440000"/>
          </a:xfrm>
          <a:prstGeom prst="rect">
            <a:avLst/>
          </a:prstGeom>
          <a:noFill/>
          <a:ln w="9525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2200" b="0" i="0" u="none">
                <a:solidFill>
                  <a:srgbClr val="333333"/>
                </a:solidFill>
                <a:latin typeface="Georgia"/>
              </a:rPr>
              <a:t>learn about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0000" y="4896000"/>
            <a:ext cx="396000" cy="21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800" b="0" i="0" u="none">
                <a:solidFill>
                  <a:srgbClr val="AAAAAA"/>
                </a:solidFill>
                <a:latin typeface="Aptos"/>
              </a:rPr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64000" y="3708000"/>
            <a:ext cx="2376000" cy="1440000"/>
          </a:xfrm>
          <a:prstGeom prst="rect">
            <a:avLst/>
          </a:prstGeom>
          <a:noFill/>
          <a:ln w="9525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2200" b="0" i="0" u="none">
                <a:solidFill>
                  <a:srgbClr val="333333"/>
                </a:solidFill>
                <a:latin typeface="Georgia"/>
              </a:rPr>
              <a:t>prioritise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08000" y="4896000"/>
            <a:ext cx="396000" cy="21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800" b="0" i="0" u="none">
                <a:solidFill>
                  <a:srgbClr val="AAAAAA"/>
                </a:solidFill>
                <a:latin typeface="Aptos"/>
              </a:rPr>
              <a:t>16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02000" y="3708000"/>
            <a:ext cx="2376000" cy="1440000"/>
          </a:xfrm>
          <a:prstGeom prst="rect">
            <a:avLst/>
          </a:prstGeom>
          <a:noFill/>
          <a:ln w="9525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2200" b="0" i="0" u="none">
                <a:solidFill>
                  <a:srgbClr val="333333"/>
                </a:solidFill>
                <a:latin typeface="Georgia"/>
              </a:rPr>
              <a:t>justify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46000" y="4896000"/>
            <a:ext cx="396000" cy="21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800" b="0" i="0" u="none">
                <a:solidFill>
                  <a:srgbClr val="AAAAAA"/>
                </a:solidFill>
                <a:latin typeface="Aptos"/>
              </a:rPr>
              <a:t>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8000" y="5310000"/>
            <a:ext cx="2376000" cy="1440000"/>
          </a:xfrm>
          <a:prstGeom prst="rect">
            <a:avLst/>
          </a:prstGeom>
          <a:noFill/>
          <a:ln w="9525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2200" b="0" i="0" u="none">
                <a:solidFill>
                  <a:srgbClr val="333333"/>
                </a:solidFill>
                <a:latin typeface="Georgia"/>
              </a:rPr>
              <a:t>appreciate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32000" y="6498000"/>
            <a:ext cx="396000" cy="21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800" b="0" i="0" u="none">
                <a:solidFill>
                  <a:srgbClr val="AAAAAA"/>
                </a:solidFill>
                <a:latin typeface="Aptos"/>
              </a:rPr>
              <a:t>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26000" y="5310000"/>
            <a:ext cx="2376000" cy="1440000"/>
          </a:xfrm>
          <a:prstGeom prst="rect">
            <a:avLst/>
          </a:prstGeom>
          <a:noFill/>
          <a:ln w="9525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2200" b="0" i="0" u="none">
                <a:solidFill>
                  <a:srgbClr val="333333"/>
                </a:solidFill>
                <a:latin typeface="Georgia"/>
              </a:rPr>
              <a:t>demonstrate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0000" y="6498000"/>
            <a:ext cx="396000" cy="21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800" b="0" i="0" u="none">
                <a:solidFill>
                  <a:srgbClr val="AAAAAA"/>
                </a:solidFill>
                <a:latin typeface="Aptos"/>
              </a:rPr>
              <a:t>11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64000" y="5310000"/>
            <a:ext cx="2376000" cy="1440000"/>
          </a:xfrm>
          <a:prstGeom prst="rect">
            <a:avLst/>
          </a:prstGeom>
          <a:noFill/>
          <a:ln w="9525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2200" b="0" i="0" u="none">
                <a:solidFill>
                  <a:srgbClr val="333333"/>
                </a:solidFill>
                <a:latin typeface="Georgia"/>
              </a:rPr>
              <a:t>list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08000" y="6498000"/>
            <a:ext cx="396000" cy="21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800" b="0" i="0" u="none">
                <a:solidFill>
                  <a:srgbClr val="AAAAAA"/>
                </a:solidFill>
                <a:latin typeface="Aptos"/>
              </a:rPr>
              <a:t>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02000" y="5310000"/>
            <a:ext cx="2376000" cy="1440000"/>
          </a:xfrm>
          <a:prstGeom prst="rect">
            <a:avLst/>
          </a:prstGeom>
          <a:noFill/>
          <a:ln w="9525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2200" b="0" i="0" u="none">
                <a:solidFill>
                  <a:srgbClr val="333333"/>
                </a:solidFill>
                <a:latin typeface="Georgia"/>
              </a:rPr>
              <a:t>redesign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46000" y="6498000"/>
            <a:ext cx="396000" cy="21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800" b="0" i="0" u="none">
                <a:solidFill>
                  <a:srgbClr val="AAAAAA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44000"/>
            <a:ext cx="7092000" cy="288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000" b="1" i="0" u="none">
                <a:solidFill>
                  <a:srgbClr val="666666"/>
                </a:solidFill>
                <a:latin typeface="Aptos"/>
              </a:rPr>
              <a:t>Can you see it? · how to play / facilitator (cut in half)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80000" y="144000"/>
            <a:ext cx="3024000" cy="288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700" b="0" i="0" u="none">
                <a:solidFill>
                  <a:srgbClr val="888888"/>
                </a:solidFill>
                <a:latin typeface="Aptos"/>
              </a:rPr>
              <a:t>Teaching That Lands · CC BY 4.0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46000" y="432000"/>
            <a:ext cx="0" cy="6948000"/>
          </a:xfrm>
          <a:prstGeom prst="line">
            <a:avLst/>
          </a:prstGeom>
          <a:ln w="9525">
            <a:solidFill>
              <a:srgbClr val="99999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88000" y="576000"/>
            <a:ext cx="4752000" cy="6624000"/>
          </a:xfrm>
          <a:prstGeom prst="rect">
            <a:avLst/>
          </a:prstGeom>
          <a:solidFill>
            <a:srgbClr val="F7E1D3"/>
          </a:solidFill>
          <a:ln w="9525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72000" bIns="72000"/>
          <a:lstStyle/>
          <a:p>
            <a:pPr algn="l"/>
            <a:r>
              <a:rPr sz="2000" b="1" i="0" u="none">
                <a:solidFill>
                  <a:srgbClr val="333333"/>
                </a:solidFill>
                <a:latin typeface="Georgia"/>
              </a:rPr>
              <a:t>How to play</a:t>
            </a:r>
          </a:p>
          <a:p>
            <a:pPr algn="l"/>
            <a:r>
              <a:rPr sz="1500" b="0" i="0" u="none">
                <a:solidFill>
                  <a:srgbClr val="333333"/>
                </a:solidFill>
                <a:latin typeface="Aptos"/>
              </a:rPr>
              <a:t>1. Share the verb cards round. For each: could you watch someone do it? Yes or No pile.</a:t>
            </a:r>
          </a:p>
          <a:p>
            <a:pPr algn="l"/>
            <a:r>
              <a:rPr sz="1500" b="0" i="0" u="none">
                <a:solidFill>
                  <a:srgbClr val="333333"/>
                </a:solidFill>
                <a:latin typeface="Aptos"/>
              </a:rPr>
              <a:t>2. Put the “yes” verbs on the pyramid: where would you see it?</a:t>
            </a:r>
          </a:p>
          <a:p>
            <a:pPr algn="l"/>
            <a:r>
              <a:rPr sz="1500" b="0" i="0" u="none">
                <a:solidFill>
                  <a:srgbClr val="333333"/>
                </a:solidFill>
                <a:latin typeface="Aptos"/>
              </a:rPr>
              <a:t>3. Eight minutes. Keep the “no” pile: we'll come back to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52000" y="576000"/>
            <a:ext cx="4752000" cy="6624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600" b="1" i="0" u="none">
                <a:solidFill>
                  <a:srgbClr val="333333"/>
                </a:solidFill>
                <a:latin typeface="Georgia"/>
              </a:rPr>
              <a:t>Facilitator only</a:t>
            </a:r>
          </a:p>
          <a:p>
            <a:pPr algn="l"/>
            <a:r>
              <a:rPr sz="1100" b="0" i="0" u="none">
                <a:solidFill>
                  <a:srgbClr val="333333"/>
                </a:solidFill>
                <a:latin typeface="Aptos"/>
              </a:rPr>
              <a:t>No: know, understand, be aware of, appreciate, be familiar with, learn about</a:t>
            </a:r>
          </a:p>
          <a:p>
            <a:pPr algn="l"/>
            <a:r>
              <a:rPr sz="1100" b="0" i="0" u="none">
                <a:solidFill>
                  <a:srgbClr val="333333"/>
                </a:solidFill>
                <a:latin typeface="Aptos"/>
              </a:rPr>
              <a:t>Yes, with a likely tier (arguable!): list → Knows about; explain → Knows how; justify → Knows how; calculate → Shows how; demonstrate → Shows how; teach back → Shows how; choose → Knows how; redesign → Shows how; escalate → Does; prioritise → Does</a:t>
            </a:r>
          </a:p>
          <a:p>
            <a:pPr algn="l"/>
            <a:r>
              <a:rPr sz="1100" b="0" i="1" u="none">
                <a:solidFill>
                  <a:srgbClr val="333333"/>
                </a:solidFill>
                <a:latin typeface="Aptos"/>
              </a:rPr>
              <a:t>The tier depends on context: “explain to a patient on the ward” is Does; “list” in a quiz is Knows about. That argument is the point: the verb, and where it happens, decide your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